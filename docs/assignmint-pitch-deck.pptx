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83E99F-1391-48C4-8683-41A4865499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5C419F-5F16-43C6-B664-60810EA555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97AA01-51E2-4684-9CD4-0F028B7341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E6031A-8B45-462D-B5EA-EA5DC30821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4562CA-D159-4EAA-9581-B971422E23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D9FE20-5BAB-4412-8953-FB010658A1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F1A5B9-F6E5-48CE-A740-260A5DBE87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452E9F-2FE6-4857-B5BB-EBA8F42AB3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5A2672-AF97-48EB-933B-3CA1841C1B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E8C075-552C-4317-B801-9CA5E7990C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025DAC-1759-454A-B201-6F77BD7BBB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1"/>
          <p:cNvSpPr/>
          <p:nvPr/>
        </p:nvSpPr>
        <p:spPr>
          <a:xfrm>
            <a:off x="7315200" y="-914400"/>
            <a:ext cx="5486040" cy="5486040"/>
          </a:xfrm>
          <a:prstGeom prst="ellipse">
            <a:avLst/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5394960" y="1645920"/>
            <a:ext cx="639720" cy="639720"/>
          </a:xfrm>
          <a:prstGeom prst="roundRect">
            <a:avLst>
              <a:gd name="adj" fmla="val 18000"/>
            </a:avLst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394960" y="16916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🌱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2286000" y="256032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Assign</a:t>
            </a:r>
            <a:r>
              <a:rPr lang="en-US" sz="5600" b="1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mint.ai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or 5"/>
          <p:cNvCxnSpPr/>
          <p:nvPr/>
        </p:nvCxnSpPr>
        <p:spPr>
          <a:xfrm>
            <a:off x="5303520" y="3383280"/>
            <a:ext cx="1554840" cy="360"/>
          </a:xfrm>
          <a:prstGeom prst="straightConnector1">
            <a:avLst/>
          </a:prstGeom>
          <a:ln w="19050">
            <a:solidFill>
              <a:srgbClr val="4CA87A"/>
            </a:solidFill>
            <a:round/>
          </a:ln>
        </p:spPr>
      </p:cxnSp>
      <p:sp>
        <p:nvSpPr>
          <p:cNvPr id="66" name="TextBox 6"/>
          <p:cNvSpPr/>
          <p:nvPr/>
        </p:nvSpPr>
        <p:spPr>
          <a:xfrm>
            <a:off x="2743200" y="356616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Your assignments, finally organized.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7"/>
          <p:cNvSpPr/>
          <p:nvPr/>
        </p:nvSpPr>
        <p:spPr>
          <a:xfrm>
            <a:off x="4297680" y="4297680"/>
            <a:ext cx="3474360" cy="365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297680" y="43250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⚡  Powered by IBM watsonx Granite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731520" y="548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THE PROBLEM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731520" y="1097280"/>
            <a:ext cx="4571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0" b="1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47%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731520" y="320040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801"/>
              </a:lnSpc>
            </a:pPr>
            <a:r>
              <a:rPr lang="en-US" sz="18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of students report missing assignments</a:t>
            </a:r>
            <a:br>
              <a:rPr sz="1800"/>
            </a:br>
            <a:r>
              <a:rPr lang="en-US" sz="18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due to poor organization across platforms.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6583680" y="1280160"/>
            <a:ext cx="4571640" cy="548280"/>
          </a:xfrm>
          <a:prstGeom prst="roundRect">
            <a:avLst>
              <a:gd name="adj" fmla="val 12000"/>
            </a:avLst>
          </a:prstGeom>
          <a:solidFill>
            <a:srgbClr val="FEF0EB"/>
          </a:solidFill>
          <a:ln w="12700">
            <a:solidFill>
              <a:srgbClr val="F4BBA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6766560" y="1398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775A"/>
                </a:solidFill>
                <a:effectLst/>
                <a:uFillTx/>
                <a:latin typeface="DM Sans"/>
              </a:rPr>
              <a:t>✕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7132320" y="14173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Assignments scattered across tabs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7"/>
          <p:cNvSpPr/>
          <p:nvPr/>
        </p:nvSpPr>
        <p:spPr>
          <a:xfrm>
            <a:off x="6583680" y="1965960"/>
            <a:ext cx="4571640" cy="548280"/>
          </a:xfrm>
          <a:prstGeom prst="roundRect">
            <a:avLst>
              <a:gd name="adj" fmla="val 12000"/>
            </a:avLst>
          </a:prstGeom>
          <a:solidFill>
            <a:srgbClr val="FEF0EB"/>
          </a:solidFill>
          <a:ln w="12700">
            <a:solidFill>
              <a:srgbClr val="F4BBA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6766560" y="2084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775A"/>
                </a:solidFill>
                <a:effectLst/>
                <a:uFillTx/>
                <a:latin typeface="DM Sans"/>
              </a:rPr>
              <a:t>✕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7132320" y="21031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No unified due-date 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10"/>
          <p:cNvSpPr/>
          <p:nvPr/>
        </p:nvSpPr>
        <p:spPr>
          <a:xfrm>
            <a:off x="6583680" y="2651760"/>
            <a:ext cx="4571640" cy="548280"/>
          </a:xfrm>
          <a:prstGeom prst="roundRect">
            <a:avLst>
              <a:gd name="adj" fmla="val 12000"/>
            </a:avLst>
          </a:prstGeom>
          <a:solidFill>
            <a:srgbClr val="FEF0EB"/>
          </a:solidFill>
          <a:ln w="12700">
            <a:solidFill>
              <a:srgbClr val="F4BBA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11"/>
          <p:cNvSpPr/>
          <p:nvPr/>
        </p:nvSpPr>
        <p:spPr>
          <a:xfrm>
            <a:off x="6766560" y="27705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775A"/>
                </a:solidFill>
                <a:effectLst/>
                <a:uFillTx/>
                <a:latin typeface="DM Sans"/>
              </a:rPr>
              <a:t>✕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7132320" y="27889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Rubrics buried in PDFs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3"/>
          <p:cNvSpPr/>
          <p:nvPr/>
        </p:nvSpPr>
        <p:spPr>
          <a:xfrm>
            <a:off x="6583680" y="3337560"/>
            <a:ext cx="4571640" cy="548280"/>
          </a:xfrm>
          <a:prstGeom prst="roundRect">
            <a:avLst>
              <a:gd name="adj" fmla="val 12000"/>
            </a:avLst>
          </a:prstGeom>
          <a:solidFill>
            <a:srgbClr val="FEF0EB"/>
          </a:solidFill>
          <a:ln w="12700">
            <a:solidFill>
              <a:srgbClr val="F4BBA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4"/>
          <p:cNvSpPr/>
          <p:nvPr/>
        </p:nvSpPr>
        <p:spPr>
          <a:xfrm>
            <a:off x="6766560" y="3456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775A"/>
                </a:solidFill>
                <a:effectLst/>
                <a:uFillTx/>
                <a:latin typeface="DM Sans"/>
              </a:rPr>
              <a:t>✕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5"/>
          <p:cNvSpPr/>
          <p:nvPr/>
        </p:nvSpPr>
        <p:spPr>
          <a:xfrm>
            <a:off x="7132320" y="34747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No idea where to start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731520" y="548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THE REALITY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31520" y="1188720"/>
            <a:ext cx="5486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42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Canvas wasn't built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42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to help you </a:t>
            </a:r>
            <a:r>
              <a:rPr lang="en-US" sz="4200" b="0" i="1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plan.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Connector 3"/>
          <p:cNvCxnSpPr/>
          <p:nvPr/>
        </p:nvCxnSpPr>
        <p:spPr>
          <a:xfrm>
            <a:off x="731520" y="2926080"/>
            <a:ext cx="914760" cy="360"/>
          </a:xfrm>
          <a:prstGeom prst="straightConnector1">
            <a:avLst/>
          </a:prstGeom>
          <a:ln w="19050">
            <a:solidFill>
              <a:srgbClr val="4CA87A"/>
            </a:solidFill>
            <a:round/>
          </a:ln>
        </p:spPr>
      </p:cxnSp>
      <p:sp>
        <p:nvSpPr>
          <p:cNvPr id="87" name="TextBox 4"/>
          <p:cNvSpPr/>
          <p:nvPr/>
        </p:nvSpPr>
        <p:spPr>
          <a:xfrm>
            <a:off x="731520" y="3200400"/>
            <a:ext cx="5028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200"/>
              </a:lnSpc>
            </a:pPr>
            <a:r>
              <a:rPr lang="en-US" sz="14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Students juggle multiple courses, each with their own assignments, rubrics, and deadlines. Canvas shows you what's due — but never helps you understand what's actually expected.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6858000" y="914400"/>
            <a:ext cx="4571640" cy="4754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ounded Rectangle 6"/>
          <p:cNvSpPr/>
          <p:nvPr/>
        </p:nvSpPr>
        <p:spPr>
          <a:xfrm>
            <a:off x="6858000" y="914400"/>
            <a:ext cx="4571640" cy="365400"/>
          </a:xfrm>
          <a:prstGeom prst="roundRect">
            <a:avLst>
              <a:gd name="adj" fmla="val 8000"/>
            </a:avLst>
          </a:prstGeom>
          <a:solidFill>
            <a:srgbClr val="F5F3F0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Oval 7"/>
          <p:cNvSpPr/>
          <p:nvPr/>
        </p:nvSpPr>
        <p:spPr>
          <a:xfrm>
            <a:off x="6995160" y="1024200"/>
            <a:ext cx="91080" cy="91080"/>
          </a:xfrm>
          <a:prstGeom prst="ellipse">
            <a:avLst/>
          </a:prstGeom>
          <a:solidFill>
            <a:srgbClr val="FF5F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Oval 8"/>
          <p:cNvSpPr/>
          <p:nvPr/>
        </p:nvSpPr>
        <p:spPr>
          <a:xfrm>
            <a:off x="7159680" y="1024200"/>
            <a:ext cx="91080" cy="91080"/>
          </a:xfrm>
          <a:prstGeom prst="ellipse">
            <a:avLst/>
          </a:prstGeom>
          <a:solidFill>
            <a:srgbClr val="FFBD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Oval 9"/>
          <p:cNvSpPr/>
          <p:nvPr/>
        </p:nvSpPr>
        <p:spPr>
          <a:xfrm>
            <a:off x="7324200" y="1024200"/>
            <a:ext cx="91080" cy="91080"/>
          </a:xfrm>
          <a:prstGeom prst="ellipse">
            <a:avLst/>
          </a:prstGeom>
          <a:solidFill>
            <a:srgbClr val="28C8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ounded Rectangle 10"/>
          <p:cNvSpPr/>
          <p:nvPr/>
        </p:nvSpPr>
        <p:spPr>
          <a:xfrm>
            <a:off x="7589520" y="1005840"/>
            <a:ext cx="3200040" cy="200880"/>
          </a:xfrm>
          <a:prstGeom prst="roundRect">
            <a:avLst>
              <a:gd name="adj" fmla="val 8000"/>
            </a:avLst>
          </a:prstGeom>
          <a:solidFill>
            <a:srgbClr val="EAE7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7040880" y="1508760"/>
            <a:ext cx="4205880" cy="50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Oval 12"/>
          <p:cNvSpPr/>
          <p:nvPr/>
        </p:nvSpPr>
        <p:spPr>
          <a:xfrm>
            <a:off x="7178040" y="1673280"/>
            <a:ext cx="136800" cy="136800"/>
          </a:xfrm>
          <a:prstGeom prst="ellipse">
            <a:avLst/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ounded Rectangle 13"/>
          <p:cNvSpPr/>
          <p:nvPr/>
        </p:nvSpPr>
        <p:spPr>
          <a:xfrm>
            <a:off x="7452360" y="1618560"/>
            <a:ext cx="2285640" cy="91080"/>
          </a:xfrm>
          <a:prstGeom prst="roundRect">
            <a:avLst>
              <a:gd name="adj" fmla="val 8000"/>
            </a:avLst>
          </a:prstGeom>
          <a:solidFill>
            <a:srgbClr val="E8E3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2480" rIns="90000" bIns="42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ounded Rectangle 14"/>
          <p:cNvSpPr/>
          <p:nvPr/>
        </p:nvSpPr>
        <p:spPr>
          <a:xfrm>
            <a:off x="7452360" y="1783080"/>
            <a:ext cx="1371240" cy="72720"/>
          </a:xfrm>
          <a:prstGeom prst="roundRect">
            <a:avLst>
              <a:gd name="adj" fmla="val 8000"/>
            </a:avLst>
          </a:prstGeom>
          <a:solidFill>
            <a:srgbClr val="E8E3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4840" rIns="90000" bIns="24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15"/>
          <p:cNvSpPr/>
          <p:nvPr/>
        </p:nvSpPr>
        <p:spPr>
          <a:xfrm>
            <a:off x="7040880" y="2148840"/>
            <a:ext cx="4205880" cy="50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Oval 16"/>
          <p:cNvSpPr/>
          <p:nvPr/>
        </p:nvSpPr>
        <p:spPr>
          <a:xfrm>
            <a:off x="7178040" y="2313360"/>
            <a:ext cx="136800" cy="136800"/>
          </a:xfrm>
          <a:prstGeom prst="ellipse">
            <a:avLst/>
          </a:prstGeom>
          <a:solidFill>
            <a:srgbClr val="F39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ounded Rectangle 17"/>
          <p:cNvSpPr/>
          <p:nvPr/>
        </p:nvSpPr>
        <p:spPr>
          <a:xfrm>
            <a:off x="7452360" y="2258640"/>
            <a:ext cx="1828440" cy="91080"/>
          </a:xfrm>
          <a:prstGeom prst="roundRect">
            <a:avLst>
              <a:gd name="adj" fmla="val 8000"/>
            </a:avLst>
          </a:prstGeom>
          <a:solidFill>
            <a:srgbClr val="E8E3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2480" rIns="90000" bIns="42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ounded Rectangle 18"/>
          <p:cNvSpPr/>
          <p:nvPr/>
        </p:nvSpPr>
        <p:spPr>
          <a:xfrm>
            <a:off x="7452360" y="2423160"/>
            <a:ext cx="1645560" cy="72720"/>
          </a:xfrm>
          <a:prstGeom prst="roundRect">
            <a:avLst>
              <a:gd name="adj" fmla="val 8000"/>
            </a:avLst>
          </a:prstGeom>
          <a:solidFill>
            <a:srgbClr val="E8E3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4840" rIns="90000" bIns="24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19"/>
          <p:cNvSpPr/>
          <p:nvPr/>
        </p:nvSpPr>
        <p:spPr>
          <a:xfrm>
            <a:off x="7040880" y="2788920"/>
            <a:ext cx="4205880" cy="50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Oval 20"/>
          <p:cNvSpPr/>
          <p:nvPr/>
        </p:nvSpPr>
        <p:spPr>
          <a:xfrm>
            <a:off x="7178040" y="2953440"/>
            <a:ext cx="136800" cy="136800"/>
          </a:xfrm>
          <a:prstGeom prst="ellipse">
            <a:avLst/>
          </a:prstGeom>
          <a:solidFill>
            <a:srgbClr val="3498D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ounded Rectangle 21"/>
          <p:cNvSpPr/>
          <p:nvPr/>
        </p:nvSpPr>
        <p:spPr>
          <a:xfrm>
            <a:off x="7452360" y="2898720"/>
            <a:ext cx="2285640" cy="91080"/>
          </a:xfrm>
          <a:prstGeom prst="roundRect">
            <a:avLst>
              <a:gd name="adj" fmla="val 8000"/>
            </a:avLst>
          </a:prstGeom>
          <a:solidFill>
            <a:srgbClr val="E8E3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2480" rIns="90000" bIns="42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ounded Rectangle 22"/>
          <p:cNvSpPr/>
          <p:nvPr/>
        </p:nvSpPr>
        <p:spPr>
          <a:xfrm>
            <a:off x="7452360" y="3063240"/>
            <a:ext cx="1371240" cy="72720"/>
          </a:xfrm>
          <a:prstGeom prst="roundRect">
            <a:avLst>
              <a:gd name="adj" fmla="val 8000"/>
            </a:avLst>
          </a:prstGeom>
          <a:solidFill>
            <a:srgbClr val="E8E3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4840" rIns="90000" bIns="24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ounded Rectangle 23"/>
          <p:cNvSpPr/>
          <p:nvPr/>
        </p:nvSpPr>
        <p:spPr>
          <a:xfrm>
            <a:off x="7040880" y="3429000"/>
            <a:ext cx="4205880" cy="50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Oval 24"/>
          <p:cNvSpPr/>
          <p:nvPr/>
        </p:nvSpPr>
        <p:spPr>
          <a:xfrm>
            <a:off x="7178040" y="3593520"/>
            <a:ext cx="136800" cy="136800"/>
          </a:xfrm>
          <a:prstGeom prst="ellipse">
            <a:avLst/>
          </a:prstGeom>
          <a:solidFill>
            <a:srgbClr val="95A5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ounded Rectangle 25"/>
          <p:cNvSpPr/>
          <p:nvPr/>
        </p:nvSpPr>
        <p:spPr>
          <a:xfrm>
            <a:off x="7452360" y="3538800"/>
            <a:ext cx="1828440" cy="91080"/>
          </a:xfrm>
          <a:prstGeom prst="roundRect">
            <a:avLst>
              <a:gd name="adj" fmla="val 8000"/>
            </a:avLst>
          </a:prstGeom>
          <a:solidFill>
            <a:srgbClr val="E8E3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2480" rIns="90000" bIns="42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ounded Rectangle 26"/>
          <p:cNvSpPr/>
          <p:nvPr/>
        </p:nvSpPr>
        <p:spPr>
          <a:xfrm>
            <a:off x="7452360" y="3703320"/>
            <a:ext cx="1645560" cy="72720"/>
          </a:xfrm>
          <a:prstGeom prst="roundRect">
            <a:avLst>
              <a:gd name="adj" fmla="val 8000"/>
            </a:avLst>
          </a:prstGeom>
          <a:solidFill>
            <a:srgbClr val="E8E3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4840" rIns="90000" bIns="24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731520" y="548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THE SOLUTION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731520" y="1828800"/>
            <a:ext cx="10058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52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Assignmint reads your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52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assignments so you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5200" b="0" i="1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don't have to.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Connector 3"/>
          <p:cNvCxnSpPr/>
          <p:nvPr/>
        </p:nvCxnSpPr>
        <p:spPr>
          <a:xfrm>
            <a:off x="731520" y="4389120"/>
            <a:ext cx="1280520" cy="360"/>
          </a:xfrm>
          <a:prstGeom prst="straightConnector1">
            <a:avLst/>
          </a:prstGeom>
          <a:ln w="19050">
            <a:solidFill>
              <a:srgbClr val="4CA87A"/>
            </a:solidFill>
            <a:round/>
          </a:ln>
        </p:spPr>
      </p:cxnSp>
      <p:sp>
        <p:nvSpPr>
          <p:cNvPr id="113" name="TextBox 4"/>
          <p:cNvSpPr/>
          <p:nvPr/>
        </p:nvSpPr>
        <p:spPr>
          <a:xfrm>
            <a:off x="731520" y="466344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401"/>
              </a:lnSpc>
            </a:pPr>
            <a:r>
              <a:rPr lang="en-US" sz="15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A Chrome extension that lives inside Canvas — syncing your assignments, analyzing rubrics with AI, and showing you exactly what's expected.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/>
          <p:nvPr/>
        </p:nvSpPr>
        <p:spPr>
          <a:xfrm>
            <a:off x="731520" y="548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HOW IT WORKS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2"/>
          <p:cNvSpPr/>
          <p:nvPr/>
        </p:nvSpPr>
        <p:spPr>
          <a:xfrm>
            <a:off x="731520" y="1097280"/>
            <a:ext cx="1279800" cy="255600"/>
          </a:xfrm>
          <a:prstGeom prst="roundRect">
            <a:avLst>
              <a:gd name="adj" fmla="val 4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731520" y="11062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STEP 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731520" y="155448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One click from</a:t>
            </a:r>
            <a:br>
              <a:rPr sz="3600"/>
            </a:br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any Canvas page.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731520" y="2743200"/>
            <a:ext cx="4114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00"/>
              </a:lnSpc>
            </a:pPr>
            <a:r>
              <a:rPr lang="en-US" sz="13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The "Open in Assignmint" button appears on every assignment page. Click it and your assignment is instantly imported and ready to analyze.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6"/>
          <p:cNvSpPr/>
          <p:nvPr/>
        </p:nvSpPr>
        <p:spPr>
          <a:xfrm>
            <a:off x="731520" y="3840480"/>
            <a:ext cx="2011320" cy="365400"/>
          </a:xfrm>
          <a:prstGeom prst="roundRect">
            <a:avLst>
              <a:gd name="adj" fmla="val 25000"/>
            </a:avLst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731520" y="38588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🌿  Open in Assignmint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8"/>
          <p:cNvSpPr/>
          <p:nvPr/>
        </p:nvSpPr>
        <p:spPr>
          <a:xfrm>
            <a:off x="5943600" y="731520"/>
            <a:ext cx="5760360" cy="530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ounded Rectangle 9"/>
          <p:cNvSpPr/>
          <p:nvPr/>
        </p:nvSpPr>
        <p:spPr>
          <a:xfrm>
            <a:off x="5943600" y="731520"/>
            <a:ext cx="5760360" cy="3470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Oval 10"/>
          <p:cNvSpPr/>
          <p:nvPr/>
        </p:nvSpPr>
        <p:spPr>
          <a:xfrm>
            <a:off x="6053400" y="841320"/>
            <a:ext cx="82080" cy="82080"/>
          </a:xfrm>
          <a:prstGeom prst="ellipse">
            <a:avLst/>
          </a:prstGeom>
          <a:solidFill>
            <a:srgbClr val="FF5F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Oval 11"/>
          <p:cNvSpPr/>
          <p:nvPr/>
        </p:nvSpPr>
        <p:spPr>
          <a:xfrm>
            <a:off x="6199560" y="841320"/>
            <a:ext cx="82080" cy="82080"/>
          </a:xfrm>
          <a:prstGeom prst="ellipse">
            <a:avLst/>
          </a:prstGeom>
          <a:solidFill>
            <a:srgbClr val="FFBD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Oval 12"/>
          <p:cNvSpPr/>
          <p:nvPr/>
        </p:nvSpPr>
        <p:spPr>
          <a:xfrm>
            <a:off x="6346080" y="841320"/>
            <a:ext cx="82080" cy="82080"/>
          </a:xfrm>
          <a:prstGeom prst="ellipse">
            <a:avLst/>
          </a:prstGeom>
          <a:solidFill>
            <a:srgbClr val="28C8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ounded Rectangle 13"/>
          <p:cNvSpPr/>
          <p:nvPr/>
        </p:nvSpPr>
        <p:spPr>
          <a:xfrm>
            <a:off x="6583680" y="786240"/>
            <a:ext cx="2011320" cy="23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4"/>
          <p:cNvSpPr/>
          <p:nvPr/>
        </p:nvSpPr>
        <p:spPr>
          <a:xfrm>
            <a:off x="6675120" y="8046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Canvas LMS — ECON 101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15"/>
          <p:cNvSpPr/>
          <p:nvPr/>
        </p:nvSpPr>
        <p:spPr>
          <a:xfrm>
            <a:off x="5943600" y="1078920"/>
            <a:ext cx="5760360" cy="2923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ounded Rectangle 16"/>
          <p:cNvSpPr/>
          <p:nvPr/>
        </p:nvSpPr>
        <p:spPr>
          <a:xfrm>
            <a:off x="6080760" y="1115640"/>
            <a:ext cx="5486040" cy="2008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17"/>
          <p:cNvSpPr/>
          <p:nvPr/>
        </p:nvSpPr>
        <p:spPr>
          <a:xfrm>
            <a:off x="6172200" y="111564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DM Sans"/>
              </a:rPr>
              <a:t>🔒 bw.instructure.com/courses/12345/assignments/67890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8"/>
          <p:cNvSpPr/>
          <p:nvPr/>
        </p:nvSpPr>
        <p:spPr>
          <a:xfrm>
            <a:off x="6172200" y="1554480"/>
            <a:ext cx="3657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D72D9"/>
                </a:solidFill>
                <a:effectLst/>
                <a:uFillTx/>
                <a:latin typeface="DM Sans"/>
              </a:rPr>
              <a:t>ECON 101  ›  Assignments  ›  Final Paper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9"/>
          <p:cNvSpPr/>
          <p:nvPr/>
        </p:nvSpPr>
        <p:spPr>
          <a:xfrm>
            <a:off x="6172200" y="1828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D3B45"/>
                </a:solidFill>
                <a:effectLst/>
                <a:uFillTx/>
                <a:latin typeface="DM Sans"/>
              </a:rPr>
              <a:t>Final Paper: Supply and Demand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Connector 20"/>
          <p:cNvCxnSpPr/>
          <p:nvPr/>
        </p:nvCxnSpPr>
        <p:spPr>
          <a:xfrm>
            <a:off x="6172200" y="2331720"/>
            <a:ext cx="5303880" cy="360"/>
          </a:xfrm>
          <a:prstGeom prst="straightConnector1">
            <a:avLst/>
          </a:prstGeom>
          <a:ln w="6350">
            <a:solidFill>
              <a:srgbClr val="E0E0E0"/>
            </a:solidFill>
            <a:round/>
          </a:ln>
        </p:spPr>
      </p:cxnSp>
      <p:sp>
        <p:nvSpPr>
          <p:cNvPr id="134" name="TextBox 21"/>
          <p:cNvSpPr/>
          <p:nvPr/>
        </p:nvSpPr>
        <p:spPr>
          <a:xfrm>
            <a:off x="6172200" y="2468880"/>
            <a:ext cx="4571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DM Sans"/>
              </a:rPr>
              <a:t>Due: Mar 15, 2026      Points: 150      Submitting: a file upload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2"/>
          <p:cNvSpPr/>
          <p:nvPr/>
        </p:nvSpPr>
        <p:spPr>
          <a:xfrm>
            <a:off x="6172200" y="283464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701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DM Sans"/>
              </a:rPr>
              <a:t>Write a 2,500-word analysis of supply and demand dynamics in a market of your choice.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23"/>
          <p:cNvSpPr/>
          <p:nvPr/>
        </p:nvSpPr>
        <p:spPr>
          <a:xfrm>
            <a:off x="9601200" y="1691640"/>
            <a:ext cx="1828440" cy="365400"/>
          </a:xfrm>
          <a:prstGeom prst="roundRect">
            <a:avLst>
              <a:gd name="adj" fmla="val 20000"/>
            </a:avLst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4"/>
          <p:cNvSpPr/>
          <p:nvPr/>
        </p:nvSpPr>
        <p:spPr>
          <a:xfrm>
            <a:off x="9601200" y="17100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🌿  Open in Assignmint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731520" y="548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HOW IT WORKS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2"/>
          <p:cNvSpPr/>
          <p:nvPr/>
        </p:nvSpPr>
        <p:spPr>
          <a:xfrm>
            <a:off x="731520" y="1097280"/>
            <a:ext cx="1279800" cy="255600"/>
          </a:xfrm>
          <a:prstGeom prst="roundRect">
            <a:avLst>
              <a:gd name="adj" fmla="val 4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731520" y="11062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STEP 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731520" y="1554480"/>
            <a:ext cx="4571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Every assignment.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Every class. </a:t>
            </a:r>
            <a:r>
              <a:rPr lang="en-US" sz="3600" b="0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One place.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731520" y="301752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00"/>
              </a:lnSpc>
            </a:pPr>
            <a:r>
              <a:rPr lang="en-US" sz="13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All your Canvas assignments sync automatically — organized by due date, grouped by course. No manual entry.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6"/>
          <p:cNvSpPr/>
          <p:nvPr/>
        </p:nvSpPr>
        <p:spPr>
          <a:xfrm>
            <a:off x="6537960" y="502920"/>
            <a:ext cx="4480200" cy="5760360"/>
          </a:xfrm>
          <a:prstGeom prst="roundRect">
            <a:avLst>
              <a:gd name="adj" fmla="val 6000"/>
            </a:avLst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ounded Rectangle 7"/>
          <p:cNvSpPr/>
          <p:nvPr/>
        </p:nvSpPr>
        <p:spPr>
          <a:xfrm>
            <a:off x="6583680" y="548640"/>
            <a:ext cx="4388760" cy="5668920"/>
          </a:xfrm>
          <a:prstGeom prst="roundRect">
            <a:avLst>
              <a:gd name="adj" fmla="val 6000"/>
            </a:avLst>
          </a:prstGeom>
          <a:solidFill>
            <a:srgbClr val="F4FAF7"/>
          </a:solidFill>
          <a:ln w="190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ounded Rectangle 8"/>
          <p:cNvSpPr/>
          <p:nvPr/>
        </p:nvSpPr>
        <p:spPr>
          <a:xfrm>
            <a:off x="6656760" y="621720"/>
            <a:ext cx="4242600" cy="383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6793920" y="6948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Assign</a:t>
            </a:r>
            <a:r>
              <a:rPr lang="en-US" sz="1300" b="1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mint.ai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Oval 10"/>
          <p:cNvSpPr/>
          <p:nvPr/>
        </p:nvSpPr>
        <p:spPr>
          <a:xfrm>
            <a:off x="10552320" y="713160"/>
            <a:ext cx="200880" cy="200880"/>
          </a:xfrm>
          <a:prstGeom prst="ellipse">
            <a:avLst/>
          </a:prstGeom>
          <a:solidFill>
            <a:srgbClr val="E0F5ED"/>
          </a:solidFill>
          <a:ln w="12700">
            <a:solidFill>
              <a:srgbClr val="4CA8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1"/>
          <p:cNvSpPr/>
          <p:nvPr/>
        </p:nvSpPr>
        <p:spPr>
          <a:xfrm>
            <a:off x="10552320" y="7225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MJ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2"/>
          <p:cNvSpPr/>
          <p:nvPr/>
        </p:nvSpPr>
        <p:spPr>
          <a:xfrm>
            <a:off x="6720840" y="10789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Good afternoon, Max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3"/>
          <p:cNvSpPr/>
          <p:nvPr/>
        </p:nvSpPr>
        <p:spPr>
          <a:xfrm>
            <a:off x="6720840" y="128016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2 assignments due today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14"/>
          <p:cNvSpPr/>
          <p:nvPr/>
        </p:nvSpPr>
        <p:spPr>
          <a:xfrm>
            <a:off x="6720840" y="1536120"/>
            <a:ext cx="1310400" cy="383760"/>
          </a:xfrm>
          <a:prstGeom prst="roundRect">
            <a:avLst>
              <a:gd name="adj" fmla="val 15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5"/>
          <p:cNvSpPr/>
          <p:nvPr/>
        </p:nvSpPr>
        <p:spPr>
          <a:xfrm>
            <a:off x="6720840" y="1572840"/>
            <a:ext cx="1310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6"/>
          <p:cNvSpPr/>
          <p:nvPr/>
        </p:nvSpPr>
        <p:spPr>
          <a:xfrm>
            <a:off x="6720840" y="1764720"/>
            <a:ext cx="1310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Due today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7"/>
          <p:cNvSpPr/>
          <p:nvPr/>
        </p:nvSpPr>
        <p:spPr>
          <a:xfrm>
            <a:off x="8123040" y="1536120"/>
            <a:ext cx="1310400" cy="383760"/>
          </a:xfrm>
          <a:prstGeom prst="roundRect">
            <a:avLst>
              <a:gd name="adj" fmla="val 15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18"/>
          <p:cNvSpPr/>
          <p:nvPr/>
        </p:nvSpPr>
        <p:spPr>
          <a:xfrm>
            <a:off x="8123040" y="1572840"/>
            <a:ext cx="1310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9"/>
          <p:cNvSpPr/>
          <p:nvPr/>
        </p:nvSpPr>
        <p:spPr>
          <a:xfrm>
            <a:off x="8123040" y="1764720"/>
            <a:ext cx="1310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Upcoming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20"/>
          <p:cNvSpPr/>
          <p:nvPr/>
        </p:nvSpPr>
        <p:spPr>
          <a:xfrm>
            <a:off x="9524880" y="1536120"/>
            <a:ext cx="1310400" cy="383760"/>
          </a:xfrm>
          <a:prstGeom prst="roundRect">
            <a:avLst>
              <a:gd name="adj" fmla="val 15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1"/>
          <p:cNvSpPr/>
          <p:nvPr/>
        </p:nvSpPr>
        <p:spPr>
          <a:xfrm>
            <a:off x="9524880" y="1572840"/>
            <a:ext cx="1310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2"/>
          <p:cNvSpPr/>
          <p:nvPr/>
        </p:nvSpPr>
        <p:spPr>
          <a:xfrm>
            <a:off x="9524880" y="1764720"/>
            <a:ext cx="1310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All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23"/>
          <p:cNvSpPr/>
          <p:nvPr/>
        </p:nvSpPr>
        <p:spPr>
          <a:xfrm>
            <a:off x="6720840" y="203904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E0F5ED"/>
          </a:solidFill>
          <a:ln w="12700">
            <a:solidFill>
              <a:srgbClr val="4CA8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24"/>
          <p:cNvSpPr/>
          <p:nvPr/>
        </p:nvSpPr>
        <p:spPr>
          <a:xfrm>
            <a:off x="6830640" y="21121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Final Paper: Supply &amp; Demand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25"/>
          <p:cNvSpPr/>
          <p:nvPr/>
        </p:nvSpPr>
        <p:spPr>
          <a:xfrm>
            <a:off x="9921240" y="2112120"/>
            <a:ext cx="347040" cy="164160"/>
          </a:xfrm>
          <a:prstGeom prst="roundRect">
            <a:avLst>
              <a:gd name="adj" fmla="val 3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6"/>
          <p:cNvSpPr/>
          <p:nvPr/>
        </p:nvSpPr>
        <p:spPr>
          <a:xfrm>
            <a:off x="9921240" y="210312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✨ AI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27"/>
          <p:cNvSpPr/>
          <p:nvPr/>
        </p:nvSpPr>
        <p:spPr>
          <a:xfrm>
            <a:off x="10305360" y="2112120"/>
            <a:ext cx="438480" cy="164160"/>
          </a:xfrm>
          <a:prstGeom prst="roundRect">
            <a:avLst>
              <a:gd name="adj" fmla="val 40000"/>
            </a:avLst>
          </a:prstGeom>
          <a:solidFill>
            <a:srgbClr val="FEF3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8"/>
          <p:cNvSpPr/>
          <p:nvPr/>
        </p:nvSpPr>
        <p:spPr>
          <a:xfrm>
            <a:off x="10305360" y="21031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4AE6C"/>
                </a:solidFill>
                <a:effectLst/>
                <a:uFillTx/>
                <a:latin typeface="DM Sans"/>
              </a:rPr>
              <a:t>Due today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9"/>
          <p:cNvSpPr/>
          <p:nvPr/>
        </p:nvSpPr>
        <p:spPr>
          <a:xfrm>
            <a:off x="6830640" y="23590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⏱ ECON 101 · 150 pts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30"/>
          <p:cNvSpPr/>
          <p:nvPr/>
        </p:nvSpPr>
        <p:spPr>
          <a:xfrm>
            <a:off x="6720840" y="266076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31"/>
          <p:cNvSpPr/>
          <p:nvPr/>
        </p:nvSpPr>
        <p:spPr>
          <a:xfrm>
            <a:off x="6830640" y="273420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Lab Report #4: Titration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32"/>
          <p:cNvSpPr/>
          <p:nvPr/>
        </p:nvSpPr>
        <p:spPr>
          <a:xfrm>
            <a:off x="9921240" y="2734200"/>
            <a:ext cx="347040" cy="164160"/>
          </a:xfrm>
          <a:prstGeom prst="roundRect">
            <a:avLst>
              <a:gd name="adj" fmla="val 3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33"/>
          <p:cNvSpPr/>
          <p:nvPr/>
        </p:nvSpPr>
        <p:spPr>
          <a:xfrm>
            <a:off x="9921240" y="272484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✨ AI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34"/>
          <p:cNvSpPr/>
          <p:nvPr/>
        </p:nvSpPr>
        <p:spPr>
          <a:xfrm>
            <a:off x="10305360" y="2734200"/>
            <a:ext cx="438480" cy="164160"/>
          </a:xfrm>
          <a:prstGeom prst="roundRect">
            <a:avLst>
              <a:gd name="adj" fmla="val 4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35"/>
          <p:cNvSpPr/>
          <p:nvPr/>
        </p:nvSpPr>
        <p:spPr>
          <a:xfrm>
            <a:off x="10305360" y="27248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3d left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6"/>
          <p:cNvSpPr/>
          <p:nvPr/>
        </p:nvSpPr>
        <p:spPr>
          <a:xfrm>
            <a:off x="6830640" y="298080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⏱ CHEM 201 · 80 pts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37"/>
          <p:cNvSpPr/>
          <p:nvPr/>
        </p:nvSpPr>
        <p:spPr>
          <a:xfrm>
            <a:off x="6720840" y="328284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38"/>
          <p:cNvSpPr/>
          <p:nvPr/>
        </p:nvSpPr>
        <p:spPr>
          <a:xfrm>
            <a:off x="6830640" y="33559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Reading Response Week 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39"/>
          <p:cNvSpPr/>
          <p:nvPr/>
        </p:nvSpPr>
        <p:spPr>
          <a:xfrm>
            <a:off x="10305360" y="3355920"/>
            <a:ext cx="438480" cy="164160"/>
          </a:xfrm>
          <a:prstGeom prst="roundRect">
            <a:avLst>
              <a:gd name="adj" fmla="val 4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40"/>
          <p:cNvSpPr/>
          <p:nvPr/>
        </p:nvSpPr>
        <p:spPr>
          <a:xfrm>
            <a:off x="10305360" y="33465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4d left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1"/>
          <p:cNvSpPr/>
          <p:nvPr/>
        </p:nvSpPr>
        <p:spPr>
          <a:xfrm>
            <a:off x="6830640" y="3602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⏱ ENG 102 · 25 pts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42"/>
          <p:cNvSpPr/>
          <p:nvPr/>
        </p:nvSpPr>
        <p:spPr>
          <a:xfrm>
            <a:off x="6720840" y="390456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43"/>
          <p:cNvSpPr/>
          <p:nvPr/>
        </p:nvSpPr>
        <p:spPr>
          <a:xfrm>
            <a:off x="6830640" y="397764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Problem Set 7: Derivatives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44"/>
          <p:cNvSpPr/>
          <p:nvPr/>
        </p:nvSpPr>
        <p:spPr>
          <a:xfrm>
            <a:off x="10305360" y="3977640"/>
            <a:ext cx="438480" cy="164160"/>
          </a:xfrm>
          <a:prstGeom prst="roundRect">
            <a:avLst>
              <a:gd name="adj" fmla="val 4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45"/>
          <p:cNvSpPr/>
          <p:nvPr/>
        </p:nvSpPr>
        <p:spPr>
          <a:xfrm>
            <a:off x="10305360" y="39686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5d left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6"/>
          <p:cNvSpPr/>
          <p:nvPr/>
        </p:nvSpPr>
        <p:spPr>
          <a:xfrm>
            <a:off x="6830640" y="422460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⏱ MATH 301 · 60 pts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47"/>
          <p:cNvSpPr/>
          <p:nvPr/>
        </p:nvSpPr>
        <p:spPr>
          <a:xfrm>
            <a:off x="6720840" y="452628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48"/>
          <p:cNvSpPr/>
          <p:nvPr/>
        </p:nvSpPr>
        <p:spPr>
          <a:xfrm>
            <a:off x="6830640" y="459936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Research Proposal Draft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49"/>
          <p:cNvSpPr/>
          <p:nvPr/>
        </p:nvSpPr>
        <p:spPr>
          <a:xfrm>
            <a:off x="10305360" y="4599360"/>
            <a:ext cx="438480" cy="164160"/>
          </a:xfrm>
          <a:prstGeom prst="roundRect">
            <a:avLst>
              <a:gd name="adj" fmla="val 40000"/>
            </a:avLst>
          </a:prstGeom>
          <a:solidFill>
            <a:srgbClr val="FEF3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50"/>
          <p:cNvSpPr/>
          <p:nvPr/>
        </p:nvSpPr>
        <p:spPr>
          <a:xfrm>
            <a:off x="10305360" y="45903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4AE6C"/>
                </a:solidFill>
                <a:effectLst/>
                <a:uFillTx/>
                <a:latin typeface="DM Sans"/>
              </a:rPr>
              <a:t>Due today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51"/>
          <p:cNvSpPr/>
          <p:nvPr/>
        </p:nvSpPr>
        <p:spPr>
          <a:xfrm>
            <a:off x="6830640" y="484632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⏱ PSYC 210 · 100 pts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52"/>
          <p:cNvSpPr/>
          <p:nvPr/>
        </p:nvSpPr>
        <p:spPr>
          <a:xfrm>
            <a:off x="6656760" y="5715000"/>
            <a:ext cx="4242600" cy="456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ounded Rectangle 53"/>
          <p:cNvSpPr/>
          <p:nvPr/>
        </p:nvSpPr>
        <p:spPr>
          <a:xfrm>
            <a:off x="6729840" y="5769720"/>
            <a:ext cx="1267560" cy="347040"/>
          </a:xfrm>
          <a:prstGeom prst="roundRect">
            <a:avLst>
              <a:gd name="adj" fmla="val 3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54"/>
          <p:cNvSpPr/>
          <p:nvPr/>
        </p:nvSpPr>
        <p:spPr>
          <a:xfrm>
            <a:off x="665676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🌿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55"/>
          <p:cNvSpPr/>
          <p:nvPr/>
        </p:nvSpPr>
        <p:spPr>
          <a:xfrm>
            <a:off x="665676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Today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56"/>
          <p:cNvSpPr/>
          <p:nvPr/>
        </p:nvSpPr>
        <p:spPr>
          <a:xfrm>
            <a:off x="807120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57"/>
          <p:cNvSpPr/>
          <p:nvPr/>
        </p:nvSpPr>
        <p:spPr>
          <a:xfrm>
            <a:off x="807120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Plan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58"/>
          <p:cNvSpPr/>
          <p:nvPr/>
        </p:nvSpPr>
        <p:spPr>
          <a:xfrm>
            <a:off x="948528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9"/>
          <p:cNvSpPr/>
          <p:nvPr/>
        </p:nvSpPr>
        <p:spPr>
          <a:xfrm>
            <a:off x="948528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Me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1"/>
          <p:cNvSpPr/>
          <p:nvPr/>
        </p:nvSpPr>
        <p:spPr>
          <a:xfrm>
            <a:off x="731520" y="548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HOW IT WORKS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2"/>
          <p:cNvSpPr/>
          <p:nvPr/>
        </p:nvSpPr>
        <p:spPr>
          <a:xfrm>
            <a:off x="731520" y="1097280"/>
            <a:ext cx="1279800" cy="255600"/>
          </a:xfrm>
          <a:prstGeom prst="roundRect">
            <a:avLst>
              <a:gd name="adj" fmla="val 4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731520" y="11062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STEP 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731520" y="1554480"/>
            <a:ext cx="5028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Understands rubrics,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requirements, and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expectations.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731520" y="3200400"/>
            <a:ext cx="4114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00"/>
              </a:lnSpc>
            </a:pPr>
            <a:r>
              <a:rPr lang="en-US" sz="13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Powered by IBM watsonx Granite, Assignmint parses your assignment description and rubric — extracting criteria, weights, and actionable steps.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6"/>
          <p:cNvSpPr/>
          <p:nvPr/>
        </p:nvSpPr>
        <p:spPr>
          <a:xfrm>
            <a:off x="6537960" y="502920"/>
            <a:ext cx="4480200" cy="5760360"/>
          </a:xfrm>
          <a:prstGeom prst="roundRect">
            <a:avLst>
              <a:gd name="adj" fmla="val 6000"/>
            </a:avLst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ounded Rectangle 7"/>
          <p:cNvSpPr/>
          <p:nvPr/>
        </p:nvSpPr>
        <p:spPr>
          <a:xfrm>
            <a:off x="6583680" y="548640"/>
            <a:ext cx="4388760" cy="5668920"/>
          </a:xfrm>
          <a:prstGeom prst="roundRect">
            <a:avLst>
              <a:gd name="adj" fmla="val 6000"/>
            </a:avLst>
          </a:prstGeom>
          <a:solidFill>
            <a:srgbClr val="F4FAF7"/>
          </a:solidFill>
          <a:ln w="190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ounded Rectangle 8"/>
          <p:cNvSpPr/>
          <p:nvPr/>
        </p:nvSpPr>
        <p:spPr>
          <a:xfrm>
            <a:off x="6583680" y="548640"/>
            <a:ext cx="4388760" cy="383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9"/>
          <p:cNvSpPr/>
          <p:nvPr/>
        </p:nvSpPr>
        <p:spPr>
          <a:xfrm>
            <a:off x="6693480" y="6217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0"/>
          <p:cNvSpPr/>
          <p:nvPr/>
        </p:nvSpPr>
        <p:spPr>
          <a:xfrm>
            <a:off x="6949440" y="6584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ECON 101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1"/>
          <p:cNvSpPr/>
          <p:nvPr/>
        </p:nvSpPr>
        <p:spPr>
          <a:xfrm>
            <a:off x="6766560" y="109728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Final Paper: Supply &amp; Demand Analysis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2"/>
          <p:cNvSpPr/>
          <p:nvPr/>
        </p:nvSpPr>
        <p:spPr>
          <a:xfrm>
            <a:off x="6766560" y="1371600"/>
            <a:ext cx="749520" cy="182520"/>
          </a:xfrm>
          <a:prstGeom prst="roundRect">
            <a:avLst>
              <a:gd name="adj" fmla="val 4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3"/>
          <p:cNvSpPr/>
          <p:nvPr/>
        </p:nvSpPr>
        <p:spPr>
          <a:xfrm>
            <a:off x="6766560" y="1380600"/>
            <a:ext cx="749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150 pts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14"/>
          <p:cNvSpPr/>
          <p:nvPr/>
        </p:nvSpPr>
        <p:spPr>
          <a:xfrm>
            <a:off x="7635240" y="1371600"/>
            <a:ext cx="749520" cy="182520"/>
          </a:xfrm>
          <a:prstGeom prst="roundRect">
            <a:avLst>
              <a:gd name="adj" fmla="val 4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5"/>
          <p:cNvSpPr/>
          <p:nvPr/>
        </p:nvSpPr>
        <p:spPr>
          <a:xfrm>
            <a:off x="7635240" y="1380600"/>
            <a:ext cx="749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Due Mar 15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16"/>
          <p:cNvSpPr/>
          <p:nvPr/>
        </p:nvSpPr>
        <p:spPr>
          <a:xfrm>
            <a:off x="8503920" y="1371600"/>
            <a:ext cx="749520" cy="182520"/>
          </a:xfrm>
          <a:prstGeom prst="roundRect">
            <a:avLst>
              <a:gd name="adj" fmla="val 4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7"/>
          <p:cNvSpPr/>
          <p:nvPr/>
        </p:nvSpPr>
        <p:spPr>
          <a:xfrm>
            <a:off x="8503920" y="1380600"/>
            <a:ext cx="749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online_upload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Oval 18"/>
          <p:cNvSpPr/>
          <p:nvPr/>
        </p:nvSpPr>
        <p:spPr>
          <a:xfrm>
            <a:off x="6858000" y="1856160"/>
            <a:ext cx="182520" cy="182520"/>
          </a:xfrm>
          <a:prstGeom prst="ellipse">
            <a:avLst/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9"/>
          <p:cNvSpPr/>
          <p:nvPr/>
        </p:nvSpPr>
        <p:spPr>
          <a:xfrm>
            <a:off x="6858000" y="18471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0"/>
          <p:cNvSpPr/>
          <p:nvPr/>
        </p:nvSpPr>
        <p:spPr>
          <a:xfrm>
            <a:off x="7150680" y="185616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Extracting explicit requirements…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Oval 21"/>
          <p:cNvSpPr/>
          <p:nvPr/>
        </p:nvSpPr>
        <p:spPr>
          <a:xfrm>
            <a:off x="6858000" y="2267640"/>
            <a:ext cx="182520" cy="182520"/>
          </a:xfrm>
          <a:prstGeom prst="ellipse">
            <a:avLst/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22"/>
          <p:cNvSpPr/>
          <p:nvPr/>
        </p:nvSpPr>
        <p:spPr>
          <a:xfrm>
            <a:off x="6858000" y="225864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3"/>
          <p:cNvSpPr/>
          <p:nvPr/>
        </p:nvSpPr>
        <p:spPr>
          <a:xfrm>
            <a:off x="7150680" y="226764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Generating rubric…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Oval 24"/>
          <p:cNvSpPr/>
          <p:nvPr/>
        </p:nvSpPr>
        <p:spPr>
          <a:xfrm>
            <a:off x="6858000" y="2679120"/>
            <a:ext cx="182520" cy="182520"/>
          </a:xfrm>
          <a:prstGeom prst="ellipse">
            <a:avLst/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5"/>
          <p:cNvSpPr/>
          <p:nvPr/>
        </p:nvSpPr>
        <p:spPr>
          <a:xfrm>
            <a:off x="6858000" y="267012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6"/>
          <p:cNvSpPr/>
          <p:nvPr/>
        </p:nvSpPr>
        <p:spPr>
          <a:xfrm>
            <a:off x="7150680" y="267912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Validating rubric…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Oval 27"/>
          <p:cNvSpPr/>
          <p:nvPr/>
        </p:nvSpPr>
        <p:spPr>
          <a:xfrm>
            <a:off x="6858000" y="3090600"/>
            <a:ext cx="182520" cy="182520"/>
          </a:xfrm>
          <a:prstGeom prst="ellipse">
            <a:avLst/>
          </a:prstGeom>
          <a:solidFill>
            <a:srgbClr val="E0F5ED"/>
          </a:solidFill>
          <a:ln w="12700">
            <a:solidFill>
              <a:srgbClr val="4CA8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28"/>
          <p:cNvSpPr/>
          <p:nvPr/>
        </p:nvSpPr>
        <p:spPr>
          <a:xfrm>
            <a:off x="6858000" y="308160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◌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9"/>
          <p:cNvSpPr/>
          <p:nvPr/>
        </p:nvSpPr>
        <p:spPr>
          <a:xfrm>
            <a:off x="7150680" y="309060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Building requirement-based milestones…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Oval 30"/>
          <p:cNvSpPr/>
          <p:nvPr/>
        </p:nvSpPr>
        <p:spPr>
          <a:xfrm>
            <a:off x="6858000" y="3502080"/>
            <a:ext cx="182520" cy="182520"/>
          </a:xfrm>
          <a:prstGeom prst="ellipse">
            <a:avLst/>
          </a:prstGeom>
          <a:solidFill>
            <a:srgbClr val="E8F7F1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31"/>
          <p:cNvSpPr/>
          <p:nvPr/>
        </p:nvSpPr>
        <p:spPr>
          <a:xfrm>
            <a:off x="7150680" y="35020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5B0A8"/>
                </a:solidFill>
                <a:effectLst/>
                <a:uFillTx/>
                <a:latin typeface="DM Sans"/>
              </a:rPr>
              <a:t>Validating milestone coverage…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32"/>
          <p:cNvSpPr/>
          <p:nvPr/>
        </p:nvSpPr>
        <p:spPr>
          <a:xfrm>
            <a:off x="6656760" y="5715000"/>
            <a:ext cx="4242600" cy="456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ounded Rectangle 33"/>
          <p:cNvSpPr/>
          <p:nvPr/>
        </p:nvSpPr>
        <p:spPr>
          <a:xfrm>
            <a:off x="6729840" y="5769720"/>
            <a:ext cx="1267560" cy="347040"/>
          </a:xfrm>
          <a:prstGeom prst="roundRect">
            <a:avLst>
              <a:gd name="adj" fmla="val 3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34"/>
          <p:cNvSpPr/>
          <p:nvPr/>
        </p:nvSpPr>
        <p:spPr>
          <a:xfrm>
            <a:off x="665676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🌿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5"/>
          <p:cNvSpPr/>
          <p:nvPr/>
        </p:nvSpPr>
        <p:spPr>
          <a:xfrm>
            <a:off x="665676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Today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36"/>
          <p:cNvSpPr/>
          <p:nvPr/>
        </p:nvSpPr>
        <p:spPr>
          <a:xfrm>
            <a:off x="807120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7"/>
          <p:cNvSpPr/>
          <p:nvPr/>
        </p:nvSpPr>
        <p:spPr>
          <a:xfrm>
            <a:off x="807120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Plan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8"/>
          <p:cNvSpPr/>
          <p:nvPr/>
        </p:nvSpPr>
        <p:spPr>
          <a:xfrm>
            <a:off x="948528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39"/>
          <p:cNvSpPr/>
          <p:nvPr/>
        </p:nvSpPr>
        <p:spPr>
          <a:xfrm>
            <a:off x="948528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Me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1"/>
          <p:cNvSpPr/>
          <p:nvPr/>
        </p:nvSpPr>
        <p:spPr>
          <a:xfrm>
            <a:off x="731520" y="548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HOW IT WORKS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ounded Rectangle 2"/>
          <p:cNvSpPr/>
          <p:nvPr/>
        </p:nvSpPr>
        <p:spPr>
          <a:xfrm>
            <a:off x="731520" y="1097280"/>
            <a:ext cx="1279800" cy="255600"/>
          </a:xfrm>
          <a:prstGeom prst="roundRect">
            <a:avLst>
              <a:gd name="adj" fmla="val 4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3"/>
          <p:cNvSpPr/>
          <p:nvPr/>
        </p:nvSpPr>
        <p:spPr>
          <a:xfrm>
            <a:off x="731520" y="11062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STEP 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4"/>
          <p:cNvSpPr/>
          <p:nvPr/>
        </p:nvSpPr>
        <p:spPr>
          <a:xfrm>
            <a:off x="731520" y="155448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Know exactly</a:t>
            </a:r>
            <a:br>
              <a:rPr sz="3600"/>
            </a:br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what's expected.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731520" y="2743200"/>
            <a:ext cx="4114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00"/>
              </a:lnSpc>
            </a:pPr>
            <a:r>
              <a:rPr lang="en-US" sz="13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See your rubric broken down into clear criteria with point weights. Get AI-suggested milestones — a step-by-step path to completing the assignment on 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6"/>
          <p:cNvSpPr/>
          <p:nvPr/>
        </p:nvSpPr>
        <p:spPr>
          <a:xfrm>
            <a:off x="6537960" y="502920"/>
            <a:ext cx="4480200" cy="5760360"/>
          </a:xfrm>
          <a:prstGeom prst="roundRect">
            <a:avLst>
              <a:gd name="adj" fmla="val 6000"/>
            </a:avLst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ounded Rectangle 7"/>
          <p:cNvSpPr/>
          <p:nvPr/>
        </p:nvSpPr>
        <p:spPr>
          <a:xfrm>
            <a:off x="6583680" y="548640"/>
            <a:ext cx="4388760" cy="5668920"/>
          </a:xfrm>
          <a:prstGeom prst="roundRect">
            <a:avLst>
              <a:gd name="adj" fmla="val 6000"/>
            </a:avLst>
          </a:prstGeom>
          <a:solidFill>
            <a:srgbClr val="F4FAF7"/>
          </a:solidFill>
          <a:ln w="190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ounded Rectangle 8"/>
          <p:cNvSpPr/>
          <p:nvPr/>
        </p:nvSpPr>
        <p:spPr>
          <a:xfrm>
            <a:off x="6583680" y="548640"/>
            <a:ext cx="4388760" cy="383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9"/>
          <p:cNvSpPr/>
          <p:nvPr/>
        </p:nvSpPr>
        <p:spPr>
          <a:xfrm>
            <a:off x="6693480" y="6217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0"/>
          <p:cNvSpPr/>
          <p:nvPr/>
        </p:nvSpPr>
        <p:spPr>
          <a:xfrm>
            <a:off x="6949440" y="6584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ECON 101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1"/>
          <p:cNvSpPr/>
          <p:nvPr/>
        </p:nvSpPr>
        <p:spPr>
          <a:xfrm>
            <a:off x="10607040" y="65844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✨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2"/>
          <p:cNvSpPr/>
          <p:nvPr/>
        </p:nvSpPr>
        <p:spPr>
          <a:xfrm>
            <a:off x="6720840" y="105156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RUBRIC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3"/>
          <p:cNvSpPr/>
          <p:nvPr/>
        </p:nvSpPr>
        <p:spPr>
          <a:xfrm>
            <a:off x="10378440" y="105156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150 pts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14"/>
          <p:cNvSpPr/>
          <p:nvPr/>
        </p:nvSpPr>
        <p:spPr>
          <a:xfrm>
            <a:off x="6720840" y="1280160"/>
            <a:ext cx="4114440" cy="292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15"/>
          <p:cNvSpPr/>
          <p:nvPr/>
        </p:nvSpPr>
        <p:spPr>
          <a:xfrm>
            <a:off x="6812280" y="1334880"/>
            <a:ext cx="3291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Content &amp; Argumentation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16"/>
          <p:cNvSpPr/>
          <p:nvPr/>
        </p:nvSpPr>
        <p:spPr>
          <a:xfrm>
            <a:off x="10332720" y="1334880"/>
            <a:ext cx="319680" cy="164160"/>
          </a:xfrm>
          <a:prstGeom prst="roundRect">
            <a:avLst>
              <a:gd name="adj" fmla="val 4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17"/>
          <p:cNvSpPr/>
          <p:nvPr/>
        </p:nvSpPr>
        <p:spPr>
          <a:xfrm>
            <a:off x="10332720" y="132588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40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8"/>
          <p:cNvSpPr/>
          <p:nvPr/>
        </p:nvSpPr>
        <p:spPr>
          <a:xfrm>
            <a:off x="10671120" y="1334880"/>
            <a:ext cx="136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19"/>
          <p:cNvSpPr/>
          <p:nvPr/>
        </p:nvSpPr>
        <p:spPr>
          <a:xfrm>
            <a:off x="6720840" y="1627560"/>
            <a:ext cx="4114440" cy="292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20"/>
          <p:cNvSpPr/>
          <p:nvPr/>
        </p:nvSpPr>
        <p:spPr>
          <a:xfrm>
            <a:off x="6812280" y="1682640"/>
            <a:ext cx="3291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Research Quality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21"/>
          <p:cNvSpPr/>
          <p:nvPr/>
        </p:nvSpPr>
        <p:spPr>
          <a:xfrm>
            <a:off x="10332720" y="1682640"/>
            <a:ext cx="319680" cy="164160"/>
          </a:xfrm>
          <a:prstGeom prst="roundRect">
            <a:avLst>
              <a:gd name="adj" fmla="val 4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22"/>
          <p:cNvSpPr/>
          <p:nvPr/>
        </p:nvSpPr>
        <p:spPr>
          <a:xfrm>
            <a:off x="10332720" y="167328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35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23"/>
          <p:cNvSpPr/>
          <p:nvPr/>
        </p:nvSpPr>
        <p:spPr>
          <a:xfrm>
            <a:off x="10671120" y="1682640"/>
            <a:ext cx="136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24"/>
          <p:cNvSpPr/>
          <p:nvPr/>
        </p:nvSpPr>
        <p:spPr>
          <a:xfrm>
            <a:off x="6720840" y="1974960"/>
            <a:ext cx="4114440" cy="292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25"/>
          <p:cNvSpPr/>
          <p:nvPr/>
        </p:nvSpPr>
        <p:spPr>
          <a:xfrm>
            <a:off x="6812280" y="2030040"/>
            <a:ext cx="3291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Structure &amp; Organization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26"/>
          <p:cNvSpPr/>
          <p:nvPr/>
        </p:nvSpPr>
        <p:spPr>
          <a:xfrm>
            <a:off x="10332720" y="2030040"/>
            <a:ext cx="319680" cy="164160"/>
          </a:xfrm>
          <a:prstGeom prst="roundRect">
            <a:avLst>
              <a:gd name="adj" fmla="val 4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27"/>
          <p:cNvSpPr/>
          <p:nvPr/>
        </p:nvSpPr>
        <p:spPr>
          <a:xfrm>
            <a:off x="10332720" y="202068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30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8"/>
          <p:cNvSpPr/>
          <p:nvPr/>
        </p:nvSpPr>
        <p:spPr>
          <a:xfrm>
            <a:off x="10671120" y="2030040"/>
            <a:ext cx="136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29"/>
          <p:cNvSpPr/>
          <p:nvPr/>
        </p:nvSpPr>
        <p:spPr>
          <a:xfrm>
            <a:off x="6720840" y="2322720"/>
            <a:ext cx="4114440" cy="292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30"/>
          <p:cNvSpPr/>
          <p:nvPr/>
        </p:nvSpPr>
        <p:spPr>
          <a:xfrm>
            <a:off x="6812280" y="2377440"/>
            <a:ext cx="3291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Evidence &amp; Analysis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31"/>
          <p:cNvSpPr/>
          <p:nvPr/>
        </p:nvSpPr>
        <p:spPr>
          <a:xfrm>
            <a:off x="10332720" y="2377440"/>
            <a:ext cx="319680" cy="164160"/>
          </a:xfrm>
          <a:prstGeom prst="roundRect">
            <a:avLst>
              <a:gd name="adj" fmla="val 4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32"/>
          <p:cNvSpPr/>
          <p:nvPr/>
        </p:nvSpPr>
        <p:spPr>
          <a:xfrm>
            <a:off x="10332720" y="236844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25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33"/>
          <p:cNvSpPr/>
          <p:nvPr/>
        </p:nvSpPr>
        <p:spPr>
          <a:xfrm>
            <a:off x="10671120" y="2377440"/>
            <a:ext cx="136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34"/>
          <p:cNvSpPr/>
          <p:nvPr/>
        </p:nvSpPr>
        <p:spPr>
          <a:xfrm>
            <a:off x="6720840" y="2670120"/>
            <a:ext cx="4114440" cy="292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35"/>
          <p:cNvSpPr/>
          <p:nvPr/>
        </p:nvSpPr>
        <p:spPr>
          <a:xfrm>
            <a:off x="6812280" y="2724840"/>
            <a:ext cx="3291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Citations &amp; Formatting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36"/>
          <p:cNvSpPr/>
          <p:nvPr/>
        </p:nvSpPr>
        <p:spPr>
          <a:xfrm>
            <a:off x="10332720" y="2724840"/>
            <a:ext cx="319680" cy="164160"/>
          </a:xfrm>
          <a:prstGeom prst="roundRect">
            <a:avLst>
              <a:gd name="adj" fmla="val 4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37"/>
          <p:cNvSpPr/>
          <p:nvPr/>
        </p:nvSpPr>
        <p:spPr>
          <a:xfrm>
            <a:off x="10332720" y="271584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20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38"/>
          <p:cNvSpPr/>
          <p:nvPr/>
        </p:nvSpPr>
        <p:spPr>
          <a:xfrm>
            <a:off x="10671120" y="2724840"/>
            <a:ext cx="136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39"/>
          <p:cNvSpPr/>
          <p:nvPr/>
        </p:nvSpPr>
        <p:spPr>
          <a:xfrm>
            <a:off x="6720840" y="306324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MILESTONES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40"/>
          <p:cNvSpPr/>
          <p:nvPr/>
        </p:nvSpPr>
        <p:spPr>
          <a:xfrm>
            <a:off x="9921240" y="30632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1/5 complete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41"/>
          <p:cNvSpPr/>
          <p:nvPr/>
        </p:nvSpPr>
        <p:spPr>
          <a:xfrm>
            <a:off x="6720840" y="3291840"/>
            <a:ext cx="4114440" cy="32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Oval 42"/>
          <p:cNvSpPr/>
          <p:nvPr/>
        </p:nvSpPr>
        <p:spPr>
          <a:xfrm>
            <a:off x="6812280" y="3364920"/>
            <a:ext cx="145800" cy="145800"/>
          </a:xfrm>
          <a:prstGeom prst="ellipse">
            <a:avLst/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43"/>
          <p:cNvSpPr/>
          <p:nvPr/>
        </p:nvSpPr>
        <p:spPr>
          <a:xfrm>
            <a:off x="6812280" y="3346560"/>
            <a:ext cx="1458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✓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44"/>
          <p:cNvSpPr/>
          <p:nvPr/>
        </p:nvSpPr>
        <p:spPr>
          <a:xfrm>
            <a:off x="7040880" y="3346560"/>
            <a:ext cx="33829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Choose market &amp; gather data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45"/>
          <p:cNvSpPr/>
          <p:nvPr/>
        </p:nvSpPr>
        <p:spPr>
          <a:xfrm>
            <a:off x="7040880" y="3474720"/>
            <a:ext cx="338292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⏱ ~3h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46"/>
          <p:cNvSpPr/>
          <p:nvPr/>
        </p:nvSpPr>
        <p:spPr>
          <a:xfrm>
            <a:off x="6720840" y="3675960"/>
            <a:ext cx="4114440" cy="32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ounded Rectangle 47"/>
          <p:cNvSpPr/>
          <p:nvPr/>
        </p:nvSpPr>
        <p:spPr>
          <a:xfrm>
            <a:off x="6812280" y="3749040"/>
            <a:ext cx="145800" cy="145800"/>
          </a:xfrm>
          <a:prstGeom prst="roundRect">
            <a:avLst>
              <a:gd name="adj" fmla="val 8000"/>
            </a:avLst>
          </a:prstGeom>
          <a:solidFill>
            <a:srgbClr val="E8F7F1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48"/>
          <p:cNvSpPr/>
          <p:nvPr/>
        </p:nvSpPr>
        <p:spPr>
          <a:xfrm>
            <a:off x="6812280" y="3740040"/>
            <a:ext cx="1458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6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49"/>
          <p:cNvSpPr/>
          <p:nvPr/>
        </p:nvSpPr>
        <p:spPr>
          <a:xfrm>
            <a:off x="7040880" y="3730680"/>
            <a:ext cx="33829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Draft elasticity analysis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50"/>
          <p:cNvSpPr/>
          <p:nvPr/>
        </p:nvSpPr>
        <p:spPr>
          <a:xfrm>
            <a:off x="7040880" y="3858840"/>
            <a:ext cx="338292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⏱ ~4h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51"/>
          <p:cNvSpPr/>
          <p:nvPr/>
        </p:nvSpPr>
        <p:spPr>
          <a:xfrm>
            <a:off x="6720840" y="4060080"/>
            <a:ext cx="4114440" cy="32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Rounded Rectangle 52"/>
          <p:cNvSpPr/>
          <p:nvPr/>
        </p:nvSpPr>
        <p:spPr>
          <a:xfrm>
            <a:off x="6812280" y="4133160"/>
            <a:ext cx="145800" cy="145800"/>
          </a:xfrm>
          <a:prstGeom prst="roundRect">
            <a:avLst>
              <a:gd name="adj" fmla="val 8000"/>
            </a:avLst>
          </a:prstGeom>
          <a:solidFill>
            <a:srgbClr val="E8F7F1"/>
          </a:solidFill>
          <a:ln w="63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53"/>
          <p:cNvSpPr/>
          <p:nvPr/>
        </p:nvSpPr>
        <p:spPr>
          <a:xfrm>
            <a:off x="6812280" y="4123800"/>
            <a:ext cx="1458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6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54"/>
          <p:cNvSpPr/>
          <p:nvPr/>
        </p:nvSpPr>
        <p:spPr>
          <a:xfrm>
            <a:off x="7040880" y="4114800"/>
            <a:ext cx="33829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Write policy implications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55"/>
          <p:cNvSpPr/>
          <p:nvPr/>
        </p:nvSpPr>
        <p:spPr>
          <a:xfrm>
            <a:off x="7040880" y="4242960"/>
            <a:ext cx="338292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⏱ ~3h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56"/>
          <p:cNvSpPr/>
          <p:nvPr/>
        </p:nvSpPr>
        <p:spPr>
          <a:xfrm>
            <a:off x="6656760" y="5715000"/>
            <a:ext cx="4242600" cy="456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Rounded Rectangle 57"/>
          <p:cNvSpPr/>
          <p:nvPr/>
        </p:nvSpPr>
        <p:spPr>
          <a:xfrm>
            <a:off x="6729840" y="5769720"/>
            <a:ext cx="1267560" cy="347040"/>
          </a:xfrm>
          <a:prstGeom prst="roundRect">
            <a:avLst>
              <a:gd name="adj" fmla="val 3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58"/>
          <p:cNvSpPr/>
          <p:nvPr/>
        </p:nvSpPr>
        <p:spPr>
          <a:xfrm>
            <a:off x="665676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🌿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59"/>
          <p:cNvSpPr/>
          <p:nvPr/>
        </p:nvSpPr>
        <p:spPr>
          <a:xfrm>
            <a:off x="665676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Today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60"/>
          <p:cNvSpPr/>
          <p:nvPr/>
        </p:nvSpPr>
        <p:spPr>
          <a:xfrm>
            <a:off x="807120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61"/>
          <p:cNvSpPr/>
          <p:nvPr/>
        </p:nvSpPr>
        <p:spPr>
          <a:xfrm>
            <a:off x="807120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Plan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62"/>
          <p:cNvSpPr/>
          <p:nvPr/>
        </p:nvSpPr>
        <p:spPr>
          <a:xfrm>
            <a:off x="948528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63"/>
          <p:cNvSpPr/>
          <p:nvPr/>
        </p:nvSpPr>
        <p:spPr>
          <a:xfrm>
            <a:off x="948528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Me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1"/>
          <p:cNvSpPr/>
          <p:nvPr/>
        </p:nvSpPr>
        <p:spPr>
          <a:xfrm>
            <a:off x="731520" y="548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HOW IT WORKS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2"/>
          <p:cNvSpPr/>
          <p:nvPr/>
        </p:nvSpPr>
        <p:spPr>
          <a:xfrm>
            <a:off x="731520" y="1097280"/>
            <a:ext cx="1279800" cy="255600"/>
          </a:xfrm>
          <a:prstGeom prst="roundRect">
            <a:avLst>
              <a:gd name="adj" fmla="val 4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731520" y="11062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STEP 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4"/>
          <p:cNvSpPr/>
          <p:nvPr/>
        </p:nvSpPr>
        <p:spPr>
          <a:xfrm>
            <a:off x="731520" y="1554480"/>
            <a:ext cx="5028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Ask anything.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Get answers grounded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in </a:t>
            </a:r>
            <a:r>
              <a:rPr lang="en-US" sz="3600" b="0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the actual rubric.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5"/>
          <p:cNvSpPr/>
          <p:nvPr/>
        </p:nvSpPr>
        <p:spPr>
          <a:xfrm>
            <a:off x="731520" y="3291840"/>
            <a:ext cx="4114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00"/>
              </a:lnSpc>
            </a:pPr>
            <a:r>
              <a:rPr lang="en-US" sz="13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Not generic ChatGPT. Every response is grounded in your specific assignment, rubric, and course context.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6"/>
          <p:cNvSpPr/>
          <p:nvPr/>
        </p:nvSpPr>
        <p:spPr>
          <a:xfrm>
            <a:off x="6537960" y="502920"/>
            <a:ext cx="4480200" cy="5760360"/>
          </a:xfrm>
          <a:prstGeom prst="roundRect">
            <a:avLst>
              <a:gd name="adj" fmla="val 6000"/>
            </a:avLst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ounded Rectangle 7"/>
          <p:cNvSpPr/>
          <p:nvPr/>
        </p:nvSpPr>
        <p:spPr>
          <a:xfrm>
            <a:off x="6583680" y="548640"/>
            <a:ext cx="4388760" cy="5668920"/>
          </a:xfrm>
          <a:prstGeom prst="roundRect">
            <a:avLst>
              <a:gd name="adj" fmla="val 6000"/>
            </a:avLst>
          </a:prstGeom>
          <a:solidFill>
            <a:srgbClr val="F4FAF7"/>
          </a:solidFill>
          <a:ln w="190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ounded Rectangle 8"/>
          <p:cNvSpPr/>
          <p:nvPr/>
        </p:nvSpPr>
        <p:spPr>
          <a:xfrm>
            <a:off x="6583680" y="548640"/>
            <a:ext cx="4388760" cy="383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9"/>
          <p:cNvSpPr/>
          <p:nvPr/>
        </p:nvSpPr>
        <p:spPr>
          <a:xfrm>
            <a:off x="6693480" y="6217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0"/>
          <p:cNvSpPr/>
          <p:nvPr/>
        </p:nvSpPr>
        <p:spPr>
          <a:xfrm>
            <a:off x="6949440" y="6584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Ask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Oval 11"/>
          <p:cNvSpPr/>
          <p:nvPr/>
        </p:nvSpPr>
        <p:spPr>
          <a:xfrm>
            <a:off x="6720840" y="1097280"/>
            <a:ext cx="182520" cy="182520"/>
          </a:xfrm>
          <a:prstGeom prst="ellipse">
            <a:avLst/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12"/>
          <p:cNvSpPr/>
          <p:nvPr/>
        </p:nvSpPr>
        <p:spPr>
          <a:xfrm>
            <a:off x="6720840" y="108828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🤖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13"/>
          <p:cNvSpPr/>
          <p:nvPr/>
        </p:nvSpPr>
        <p:spPr>
          <a:xfrm>
            <a:off x="6976800" y="1097280"/>
            <a:ext cx="3748680" cy="475200"/>
          </a:xfrm>
          <a:prstGeom prst="roundRect">
            <a:avLst>
              <a:gd name="adj" fmla="val 12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4"/>
          <p:cNvSpPr/>
          <p:nvPr/>
        </p:nvSpPr>
        <p:spPr>
          <a:xfrm>
            <a:off x="7040880" y="1152000"/>
            <a:ext cx="3611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301"/>
              </a:lnSpc>
            </a:pP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I can answer questions about "Final Paper: Supply &amp; Demand Analysis" — its rubric, milestones, and requirements. What would you like to know?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ounded Rectangle 15"/>
          <p:cNvSpPr/>
          <p:nvPr/>
        </p:nvSpPr>
        <p:spPr>
          <a:xfrm>
            <a:off x="8275320" y="1691640"/>
            <a:ext cx="2285640" cy="292320"/>
          </a:xfrm>
          <a:prstGeom prst="roundRect">
            <a:avLst>
              <a:gd name="adj" fmla="val 15000"/>
            </a:avLst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6"/>
          <p:cNvSpPr/>
          <p:nvPr/>
        </p:nvSpPr>
        <p:spPr>
          <a:xfrm>
            <a:off x="8366760" y="174636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What makes a strong thesis for this paper?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Oval 17"/>
          <p:cNvSpPr/>
          <p:nvPr/>
        </p:nvSpPr>
        <p:spPr>
          <a:xfrm>
            <a:off x="10634400" y="1737360"/>
            <a:ext cx="182520" cy="182520"/>
          </a:xfrm>
          <a:prstGeom prst="ellipse">
            <a:avLst/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18"/>
          <p:cNvSpPr/>
          <p:nvPr/>
        </p:nvSpPr>
        <p:spPr>
          <a:xfrm>
            <a:off x="10634400" y="1728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👤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Oval 19"/>
          <p:cNvSpPr/>
          <p:nvPr/>
        </p:nvSpPr>
        <p:spPr>
          <a:xfrm>
            <a:off x="6720840" y="2103120"/>
            <a:ext cx="182520" cy="182520"/>
          </a:xfrm>
          <a:prstGeom prst="ellipse">
            <a:avLst/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20"/>
          <p:cNvSpPr/>
          <p:nvPr/>
        </p:nvSpPr>
        <p:spPr>
          <a:xfrm>
            <a:off x="6720840" y="209412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🤖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ounded Rectangle 21"/>
          <p:cNvSpPr/>
          <p:nvPr/>
        </p:nvSpPr>
        <p:spPr>
          <a:xfrm>
            <a:off x="6976800" y="2103120"/>
            <a:ext cx="3748680" cy="1645560"/>
          </a:xfrm>
          <a:prstGeom prst="roundRect">
            <a:avLst>
              <a:gd name="adj" fmla="val 8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22"/>
          <p:cNvSpPr/>
          <p:nvPr/>
        </p:nvSpPr>
        <p:spPr>
          <a:xfrm>
            <a:off x="7040880" y="2157840"/>
            <a:ext cx="3611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301"/>
              </a:lnSpc>
            </a:pP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Based on the rubric's "Content &amp; Argumentation" criteria (40 pts), a strong thesis should:</a:t>
            </a:r>
            <a:br>
              <a:rPr sz="800"/>
            </a:br>
            <a:br>
              <a:rPr sz="800"/>
            </a:b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1. State a clear market choice</a:t>
            </a:r>
            <a:br>
              <a:rPr sz="800"/>
            </a:b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2. Include a debatable claim about supply/demand dynamics</a:t>
            </a:r>
            <a:br>
              <a:rPr sz="800"/>
            </a:b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3. Preview your policy implications</a:t>
            </a:r>
            <a:br>
              <a:rPr sz="800"/>
            </a:br>
            <a:br>
              <a:rPr sz="800"/>
            </a:b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Example: "The U.S. housing market demonstrates how inelastic supply combined with policy-driven demand creates persistent affordability challenges..."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1" name="Connector 23"/>
          <p:cNvCxnSpPr/>
          <p:nvPr/>
        </p:nvCxnSpPr>
        <p:spPr>
          <a:xfrm>
            <a:off x="6720840" y="5303520"/>
            <a:ext cx="4115160" cy="360"/>
          </a:xfrm>
          <a:prstGeom prst="straightConnector1">
            <a:avLst/>
          </a:prstGeom>
          <a:ln w="6350">
            <a:solidFill>
              <a:srgbClr val="B3D4C0"/>
            </a:solidFill>
            <a:round/>
          </a:ln>
        </p:spPr>
      </p:cxnSp>
      <p:sp>
        <p:nvSpPr>
          <p:cNvPr id="322" name="Rounded Rectangle 24"/>
          <p:cNvSpPr/>
          <p:nvPr/>
        </p:nvSpPr>
        <p:spPr>
          <a:xfrm>
            <a:off x="6720840" y="5376600"/>
            <a:ext cx="3748680" cy="273960"/>
          </a:xfrm>
          <a:prstGeom prst="roundRect">
            <a:avLst>
              <a:gd name="adj" fmla="val 2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25"/>
          <p:cNvSpPr/>
          <p:nvPr/>
        </p:nvSpPr>
        <p:spPr>
          <a:xfrm>
            <a:off x="6812280" y="539496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B5B0A8"/>
                </a:solidFill>
                <a:effectLst/>
                <a:uFillTx/>
                <a:latin typeface="DM Sans"/>
              </a:rPr>
              <a:t>Ask about this assignment…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26"/>
          <p:cNvSpPr/>
          <p:nvPr/>
        </p:nvSpPr>
        <p:spPr>
          <a:xfrm>
            <a:off x="10515600" y="5376600"/>
            <a:ext cx="273960" cy="273960"/>
          </a:xfrm>
          <a:prstGeom prst="roundRect">
            <a:avLst>
              <a:gd name="adj" fmla="val 15000"/>
            </a:avLst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7"/>
          <p:cNvSpPr/>
          <p:nvPr/>
        </p:nvSpPr>
        <p:spPr>
          <a:xfrm>
            <a:off x="10515600" y="53766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Box 1"/>
          <p:cNvSpPr/>
          <p:nvPr/>
        </p:nvSpPr>
        <p:spPr>
          <a:xfrm>
            <a:off x="731520" y="548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HOW IT WORKS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2"/>
          <p:cNvSpPr/>
          <p:nvPr/>
        </p:nvSpPr>
        <p:spPr>
          <a:xfrm>
            <a:off x="731520" y="1097280"/>
            <a:ext cx="1279800" cy="255600"/>
          </a:xfrm>
          <a:prstGeom prst="roundRect">
            <a:avLst>
              <a:gd name="adj" fmla="val 4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3"/>
          <p:cNvSpPr/>
          <p:nvPr/>
        </p:nvSpPr>
        <p:spPr>
          <a:xfrm>
            <a:off x="731520" y="11062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STEP 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4"/>
          <p:cNvSpPr/>
          <p:nvPr/>
        </p:nvSpPr>
        <p:spPr>
          <a:xfrm>
            <a:off x="731520" y="155448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36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Know your grade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before you submit.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5"/>
          <p:cNvSpPr/>
          <p:nvPr/>
        </p:nvSpPr>
        <p:spPr>
          <a:xfrm>
            <a:off x="731520" y="2743200"/>
            <a:ext cx="4114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00"/>
              </a:lnSpc>
            </a:pPr>
            <a:r>
              <a:rPr lang="en-US" sz="13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Upload your draft and get an AI-predicted score against the rubric. See per-category breakdowns and the single most impactful improvement.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6"/>
          <p:cNvSpPr/>
          <p:nvPr/>
        </p:nvSpPr>
        <p:spPr>
          <a:xfrm>
            <a:off x="6537960" y="502920"/>
            <a:ext cx="4480200" cy="5760360"/>
          </a:xfrm>
          <a:prstGeom prst="roundRect">
            <a:avLst>
              <a:gd name="adj" fmla="val 6000"/>
            </a:avLst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Rounded Rectangle 7"/>
          <p:cNvSpPr/>
          <p:nvPr/>
        </p:nvSpPr>
        <p:spPr>
          <a:xfrm>
            <a:off x="6583680" y="548640"/>
            <a:ext cx="4388760" cy="5668920"/>
          </a:xfrm>
          <a:prstGeom prst="roundRect">
            <a:avLst>
              <a:gd name="adj" fmla="val 6000"/>
            </a:avLst>
          </a:prstGeom>
          <a:solidFill>
            <a:srgbClr val="F4FAF7"/>
          </a:solidFill>
          <a:ln w="1905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ounded Rectangle 8"/>
          <p:cNvSpPr/>
          <p:nvPr/>
        </p:nvSpPr>
        <p:spPr>
          <a:xfrm>
            <a:off x="6583680" y="548640"/>
            <a:ext cx="4388760" cy="383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9"/>
          <p:cNvSpPr/>
          <p:nvPr/>
        </p:nvSpPr>
        <p:spPr>
          <a:xfrm>
            <a:off x="6693480" y="6217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10"/>
          <p:cNvSpPr/>
          <p:nvPr/>
        </p:nvSpPr>
        <p:spPr>
          <a:xfrm>
            <a:off x="6949440" y="6400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Assign</a:t>
            </a:r>
            <a:r>
              <a:rPr lang="en-US" sz="1000" b="1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mint.ai</a:t>
            </a:r>
            <a:r>
              <a:rPr lang="en-US" sz="1000" b="0" u="none" strike="noStrike">
                <a:solidFill>
                  <a:srgbClr val="B3D4C0"/>
                </a:solidFill>
                <a:effectLst/>
                <a:uFillTx/>
                <a:latin typeface="DM Sans"/>
              </a:rPr>
              <a:t> · </a:t>
            </a:r>
            <a:r>
              <a:rPr lang="en-US" sz="10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AI Review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ounded Rectangle 11"/>
          <p:cNvSpPr/>
          <p:nvPr/>
        </p:nvSpPr>
        <p:spPr>
          <a:xfrm>
            <a:off x="6720840" y="1097280"/>
            <a:ext cx="4114440" cy="1096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2"/>
          <p:cNvSpPr/>
          <p:nvPr/>
        </p:nvSpPr>
        <p:spPr>
          <a:xfrm>
            <a:off x="6720840" y="1170360"/>
            <a:ext cx="4114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PRE-SUBMISSION SCORE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3"/>
          <p:cNvSpPr/>
          <p:nvPr/>
        </p:nvSpPr>
        <p:spPr>
          <a:xfrm>
            <a:off x="6720840" y="135324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128</a:t>
            </a:r>
            <a:r>
              <a:rPr lang="en-US" sz="16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/150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Oval 14"/>
          <p:cNvSpPr/>
          <p:nvPr/>
        </p:nvSpPr>
        <p:spPr>
          <a:xfrm>
            <a:off x="8366760" y="1874520"/>
            <a:ext cx="91080" cy="91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15"/>
          <p:cNvSpPr/>
          <p:nvPr/>
        </p:nvSpPr>
        <p:spPr>
          <a:xfrm>
            <a:off x="8485560" y="1856160"/>
            <a:ext cx="1371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85% — Strong pass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16"/>
          <p:cNvSpPr/>
          <p:nvPr/>
        </p:nvSpPr>
        <p:spPr>
          <a:xfrm>
            <a:off x="6720840" y="233172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BREAKDOWN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17"/>
          <p:cNvSpPr/>
          <p:nvPr/>
        </p:nvSpPr>
        <p:spPr>
          <a:xfrm>
            <a:off x="6766560" y="2560320"/>
            <a:ext cx="3565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Content &amp; Argumentation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8"/>
          <p:cNvSpPr/>
          <p:nvPr/>
        </p:nvSpPr>
        <p:spPr>
          <a:xfrm>
            <a:off x="10332720" y="256032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36/40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19"/>
          <p:cNvSpPr/>
          <p:nvPr/>
        </p:nvSpPr>
        <p:spPr>
          <a:xfrm>
            <a:off x="6766560" y="2724840"/>
            <a:ext cx="4023000" cy="54360"/>
          </a:xfrm>
          <a:prstGeom prst="roundRect">
            <a:avLst>
              <a:gd name="adj" fmla="val 5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Rounded Rectangle 20"/>
          <p:cNvSpPr/>
          <p:nvPr/>
        </p:nvSpPr>
        <p:spPr>
          <a:xfrm>
            <a:off x="6766560" y="2724840"/>
            <a:ext cx="3620520" cy="543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Box 21"/>
          <p:cNvSpPr/>
          <p:nvPr/>
        </p:nvSpPr>
        <p:spPr>
          <a:xfrm>
            <a:off x="6766560" y="2944440"/>
            <a:ext cx="3565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Research Quality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22"/>
          <p:cNvSpPr/>
          <p:nvPr/>
        </p:nvSpPr>
        <p:spPr>
          <a:xfrm>
            <a:off x="10332720" y="294444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31/35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ounded Rectangle 23"/>
          <p:cNvSpPr/>
          <p:nvPr/>
        </p:nvSpPr>
        <p:spPr>
          <a:xfrm>
            <a:off x="6766560" y="3108960"/>
            <a:ext cx="4023000" cy="54360"/>
          </a:xfrm>
          <a:prstGeom prst="roundRect">
            <a:avLst>
              <a:gd name="adj" fmla="val 5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Rounded Rectangle 24"/>
          <p:cNvSpPr/>
          <p:nvPr/>
        </p:nvSpPr>
        <p:spPr>
          <a:xfrm>
            <a:off x="6766560" y="3108960"/>
            <a:ext cx="3563280" cy="54360"/>
          </a:xfrm>
          <a:prstGeom prst="roundRect">
            <a:avLst>
              <a:gd name="adj" fmla="val 50000"/>
            </a:avLst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25"/>
          <p:cNvSpPr/>
          <p:nvPr/>
        </p:nvSpPr>
        <p:spPr>
          <a:xfrm>
            <a:off x="6766560" y="3328560"/>
            <a:ext cx="3565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Structure &amp; Organization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26"/>
          <p:cNvSpPr/>
          <p:nvPr/>
        </p:nvSpPr>
        <p:spPr>
          <a:xfrm>
            <a:off x="10332720" y="332856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26/30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ounded Rectangle 27"/>
          <p:cNvSpPr/>
          <p:nvPr/>
        </p:nvSpPr>
        <p:spPr>
          <a:xfrm>
            <a:off x="6766560" y="3493080"/>
            <a:ext cx="4023000" cy="54360"/>
          </a:xfrm>
          <a:prstGeom prst="roundRect">
            <a:avLst>
              <a:gd name="adj" fmla="val 5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Rounded Rectangle 28"/>
          <p:cNvSpPr/>
          <p:nvPr/>
        </p:nvSpPr>
        <p:spPr>
          <a:xfrm>
            <a:off x="6766560" y="3493080"/>
            <a:ext cx="3486600" cy="54360"/>
          </a:xfrm>
          <a:prstGeom prst="roundRect">
            <a:avLst>
              <a:gd name="adj" fmla="val 50000"/>
            </a:avLst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29"/>
          <p:cNvSpPr/>
          <p:nvPr/>
        </p:nvSpPr>
        <p:spPr>
          <a:xfrm>
            <a:off x="6766560" y="3712320"/>
            <a:ext cx="3565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Evidence &amp; Analysis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30"/>
          <p:cNvSpPr/>
          <p:nvPr/>
        </p:nvSpPr>
        <p:spPr>
          <a:xfrm>
            <a:off x="10332720" y="371232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21/25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ounded Rectangle 31"/>
          <p:cNvSpPr/>
          <p:nvPr/>
        </p:nvSpPr>
        <p:spPr>
          <a:xfrm>
            <a:off x="6766560" y="3877200"/>
            <a:ext cx="4023000" cy="54360"/>
          </a:xfrm>
          <a:prstGeom prst="roundRect">
            <a:avLst>
              <a:gd name="adj" fmla="val 5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Rounded Rectangle 32"/>
          <p:cNvSpPr/>
          <p:nvPr/>
        </p:nvSpPr>
        <p:spPr>
          <a:xfrm>
            <a:off x="6766560" y="3877200"/>
            <a:ext cx="3379320" cy="54360"/>
          </a:xfrm>
          <a:prstGeom prst="roundRect">
            <a:avLst>
              <a:gd name="adj" fmla="val 50000"/>
            </a:avLst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33"/>
          <p:cNvSpPr/>
          <p:nvPr/>
        </p:nvSpPr>
        <p:spPr>
          <a:xfrm>
            <a:off x="6766560" y="4096440"/>
            <a:ext cx="3565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Citations &amp; Formatting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34"/>
          <p:cNvSpPr/>
          <p:nvPr/>
        </p:nvSpPr>
        <p:spPr>
          <a:xfrm>
            <a:off x="10332720" y="409644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14/20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35"/>
          <p:cNvSpPr/>
          <p:nvPr/>
        </p:nvSpPr>
        <p:spPr>
          <a:xfrm>
            <a:off x="6766560" y="4260960"/>
            <a:ext cx="4023000" cy="54360"/>
          </a:xfrm>
          <a:prstGeom prst="roundRect">
            <a:avLst>
              <a:gd name="adj" fmla="val 50000"/>
            </a:avLst>
          </a:prstGeom>
          <a:solidFill>
            <a:srgbClr val="E8F7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Rounded Rectangle 36"/>
          <p:cNvSpPr/>
          <p:nvPr/>
        </p:nvSpPr>
        <p:spPr>
          <a:xfrm>
            <a:off x="6766560" y="4260960"/>
            <a:ext cx="2815920" cy="543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ounded Rectangle 37"/>
          <p:cNvSpPr/>
          <p:nvPr/>
        </p:nvSpPr>
        <p:spPr>
          <a:xfrm>
            <a:off x="6720840" y="4480560"/>
            <a:ext cx="4114440" cy="594000"/>
          </a:xfrm>
          <a:prstGeom prst="roundRect">
            <a:avLst>
              <a:gd name="adj" fmla="val 10000"/>
            </a:avLst>
          </a:prstGeom>
          <a:solidFill>
            <a:srgbClr val="E0F5ED"/>
          </a:solidFill>
          <a:ln>
            <a:solidFill>
              <a:srgbClr val="8BCC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38"/>
          <p:cNvSpPr/>
          <p:nvPr/>
        </p:nvSpPr>
        <p:spPr>
          <a:xfrm>
            <a:off x="6812280" y="4535280"/>
            <a:ext cx="39315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TOP IMPROVEMENT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39"/>
          <p:cNvSpPr/>
          <p:nvPr/>
        </p:nvSpPr>
        <p:spPr>
          <a:xfrm>
            <a:off x="6812280" y="468180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301"/>
              </a:lnSpc>
            </a:pPr>
            <a:r>
              <a:rPr lang="en-US" sz="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Citations could be more consistent. Switch to one citation style and ensure all in-text citations match your bibliography.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Rounded Rectangle 40"/>
          <p:cNvSpPr/>
          <p:nvPr/>
        </p:nvSpPr>
        <p:spPr>
          <a:xfrm>
            <a:off x="6656760" y="5715000"/>
            <a:ext cx="4242600" cy="456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Rounded Rectangle 41"/>
          <p:cNvSpPr/>
          <p:nvPr/>
        </p:nvSpPr>
        <p:spPr>
          <a:xfrm>
            <a:off x="6729840" y="5769720"/>
            <a:ext cx="1267560" cy="347040"/>
          </a:xfrm>
          <a:prstGeom prst="roundRect">
            <a:avLst>
              <a:gd name="adj" fmla="val 3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42"/>
          <p:cNvSpPr/>
          <p:nvPr/>
        </p:nvSpPr>
        <p:spPr>
          <a:xfrm>
            <a:off x="665676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🌿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43"/>
          <p:cNvSpPr/>
          <p:nvPr/>
        </p:nvSpPr>
        <p:spPr>
          <a:xfrm>
            <a:off x="665676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4CA87A"/>
                </a:solidFill>
                <a:effectLst/>
                <a:uFillTx/>
                <a:latin typeface="DM Sans"/>
              </a:rPr>
              <a:t>Today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44"/>
          <p:cNvSpPr/>
          <p:nvPr/>
        </p:nvSpPr>
        <p:spPr>
          <a:xfrm>
            <a:off x="807120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45"/>
          <p:cNvSpPr/>
          <p:nvPr/>
        </p:nvSpPr>
        <p:spPr>
          <a:xfrm>
            <a:off x="807120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Plan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46"/>
          <p:cNvSpPr/>
          <p:nvPr/>
        </p:nvSpPr>
        <p:spPr>
          <a:xfrm>
            <a:off x="9485280" y="5751720"/>
            <a:ext cx="141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47"/>
          <p:cNvSpPr/>
          <p:nvPr/>
        </p:nvSpPr>
        <p:spPr>
          <a:xfrm>
            <a:off x="9485280" y="5952600"/>
            <a:ext cx="141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Me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Box 1"/>
          <p:cNvSpPr/>
          <p:nvPr/>
        </p:nvSpPr>
        <p:spPr>
          <a:xfrm>
            <a:off x="731520" y="548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UNDER THE HOOD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2"/>
          <p:cNvSpPr/>
          <p:nvPr/>
        </p:nvSpPr>
        <p:spPr>
          <a:xfrm>
            <a:off x="731520" y="137160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42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Built to be fast, private,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4200" b="0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and </a:t>
            </a:r>
            <a:r>
              <a:rPr lang="en-US" sz="4200" b="0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reliable.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3"/>
          <p:cNvSpPr/>
          <p:nvPr/>
        </p:nvSpPr>
        <p:spPr>
          <a:xfrm>
            <a:off x="731520" y="27432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Lightweight Chrome extension with enterprise-grade AI.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ounded Rectangle 4"/>
          <p:cNvSpPr/>
          <p:nvPr/>
        </p:nvSpPr>
        <p:spPr>
          <a:xfrm>
            <a:off x="731520" y="3474720"/>
            <a:ext cx="4754520" cy="82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Rounded Rectangle 5"/>
          <p:cNvSpPr/>
          <p:nvPr/>
        </p:nvSpPr>
        <p:spPr>
          <a:xfrm>
            <a:off x="914400" y="365760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914400" y="367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7"/>
          <p:cNvSpPr/>
          <p:nvPr/>
        </p:nvSpPr>
        <p:spPr>
          <a:xfrm>
            <a:off x="1554480" y="36392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Chrome Extension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8"/>
          <p:cNvSpPr/>
          <p:nvPr/>
        </p:nvSpPr>
        <p:spPr>
          <a:xfrm>
            <a:off x="1554480" y="38862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Manifest V3, runs locally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ounded Rectangle 9"/>
          <p:cNvSpPr/>
          <p:nvPr/>
        </p:nvSpPr>
        <p:spPr>
          <a:xfrm>
            <a:off x="6035040" y="3474720"/>
            <a:ext cx="4754520" cy="82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ounded Rectangle 10"/>
          <p:cNvSpPr/>
          <p:nvPr/>
        </p:nvSpPr>
        <p:spPr>
          <a:xfrm>
            <a:off x="6217920" y="365760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11"/>
          <p:cNvSpPr/>
          <p:nvPr/>
        </p:nvSpPr>
        <p:spPr>
          <a:xfrm>
            <a:off x="6217920" y="367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⚛️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12"/>
          <p:cNvSpPr/>
          <p:nvPr/>
        </p:nvSpPr>
        <p:spPr>
          <a:xfrm>
            <a:off x="6858000" y="36392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React + TypeScript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3"/>
          <p:cNvSpPr/>
          <p:nvPr/>
        </p:nvSpPr>
        <p:spPr>
          <a:xfrm>
            <a:off x="6858000" y="38862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Type-safe, component-driven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Rounded Rectangle 14"/>
          <p:cNvSpPr/>
          <p:nvPr/>
        </p:nvSpPr>
        <p:spPr>
          <a:xfrm>
            <a:off x="731520" y="4572000"/>
            <a:ext cx="4754520" cy="82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Rounded Rectangle 15"/>
          <p:cNvSpPr/>
          <p:nvPr/>
        </p:nvSpPr>
        <p:spPr>
          <a:xfrm>
            <a:off x="914400" y="475488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16"/>
          <p:cNvSpPr/>
          <p:nvPr/>
        </p:nvSpPr>
        <p:spPr>
          <a:xfrm>
            <a:off x="914400" y="4773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17"/>
          <p:cNvSpPr/>
          <p:nvPr/>
        </p:nvSpPr>
        <p:spPr>
          <a:xfrm>
            <a:off x="1554480" y="47365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IBM watsonx Granite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18"/>
          <p:cNvSpPr/>
          <p:nvPr/>
        </p:nvSpPr>
        <p:spPr>
          <a:xfrm>
            <a:off x="1554480" y="49834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Rubric analysis &amp; scoring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ounded Rectangle 19"/>
          <p:cNvSpPr/>
          <p:nvPr/>
        </p:nvSpPr>
        <p:spPr>
          <a:xfrm>
            <a:off x="6035040" y="4572000"/>
            <a:ext cx="4754520" cy="82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D4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Rounded Rectangle 20"/>
          <p:cNvSpPr/>
          <p:nvPr/>
        </p:nvSpPr>
        <p:spPr>
          <a:xfrm>
            <a:off x="6217920" y="475488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EF0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21"/>
          <p:cNvSpPr/>
          <p:nvPr/>
        </p:nvSpPr>
        <p:spPr>
          <a:xfrm>
            <a:off x="6217920" y="4773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22"/>
          <p:cNvSpPr/>
          <p:nvPr/>
        </p:nvSpPr>
        <p:spPr>
          <a:xfrm>
            <a:off x="6858000" y="47365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Canvas LMS 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23"/>
          <p:cNvSpPr/>
          <p:nvPr/>
        </p:nvSpPr>
        <p:spPr>
          <a:xfrm>
            <a:off x="6858000" y="49834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Auto-sync assignments &amp; rubrics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Oval 1"/>
          <p:cNvSpPr/>
          <p:nvPr/>
        </p:nvSpPr>
        <p:spPr>
          <a:xfrm>
            <a:off x="3657600" y="457200"/>
            <a:ext cx="7314840" cy="7314840"/>
          </a:xfrm>
          <a:prstGeom prst="ellipse">
            <a:avLst/>
          </a:prstGeom>
          <a:solidFill>
            <a:srgbClr val="E0F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Rounded Rectangle 2"/>
          <p:cNvSpPr/>
          <p:nvPr/>
        </p:nvSpPr>
        <p:spPr>
          <a:xfrm>
            <a:off x="5486400" y="1371600"/>
            <a:ext cx="731160" cy="731160"/>
          </a:xfrm>
          <a:prstGeom prst="roundRect">
            <a:avLst>
              <a:gd name="adj" fmla="val 18000"/>
            </a:avLst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3"/>
          <p:cNvSpPr/>
          <p:nvPr/>
        </p:nvSpPr>
        <p:spPr>
          <a:xfrm>
            <a:off x="5486400" y="14173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152228"/>
                </a:solidFill>
                <a:effectLst/>
                <a:uFillTx/>
                <a:latin typeface="DM Sans"/>
              </a:rPr>
              <a:t>🌱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4"/>
          <p:cNvSpPr/>
          <p:nvPr/>
        </p:nvSpPr>
        <p:spPr>
          <a:xfrm>
            <a:off x="2286000" y="237744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152228"/>
                </a:solidFill>
                <a:effectLst/>
                <a:uFillTx/>
                <a:latin typeface="DM Serif Display"/>
              </a:rPr>
              <a:t>Assign</a:t>
            </a:r>
            <a:r>
              <a:rPr lang="en-US" sz="5200" b="1" u="none" strike="noStrike">
                <a:solidFill>
                  <a:srgbClr val="4CA87A"/>
                </a:solidFill>
                <a:effectLst/>
                <a:uFillTx/>
                <a:latin typeface="DM Serif Display"/>
              </a:rPr>
              <a:t>mint.ai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Connector 5"/>
          <p:cNvCxnSpPr/>
          <p:nvPr/>
        </p:nvCxnSpPr>
        <p:spPr>
          <a:xfrm>
            <a:off x="5303520" y="3200400"/>
            <a:ext cx="1554840" cy="360"/>
          </a:xfrm>
          <a:prstGeom prst="straightConnector1">
            <a:avLst/>
          </a:prstGeom>
          <a:ln w="19050">
            <a:solidFill>
              <a:srgbClr val="4CA87A"/>
            </a:solidFill>
            <a:round/>
          </a:ln>
        </p:spPr>
      </p:cxnSp>
      <p:sp>
        <p:nvSpPr>
          <p:cNvPr id="401" name="TextBox 6"/>
          <p:cNvSpPr/>
          <p:nvPr/>
        </p:nvSpPr>
        <p:spPr>
          <a:xfrm>
            <a:off x="2743200" y="338328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9867D"/>
                </a:solidFill>
                <a:effectLst/>
                <a:uFillTx/>
                <a:latin typeface="DM Sans"/>
              </a:rPr>
              <a:t>Stop guessing. Start knowing.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ounded Rectangle 7"/>
          <p:cNvSpPr/>
          <p:nvPr/>
        </p:nvSpPr>
        <p:spPr>
          <a:xfrm>
            <a:off x="4572000" y="4114800"/>
            <a:ext cx="3017160" cy="502560"/>
          </a:xfrm>
          <a:prstGeom prst="roundRect">
            <a:avLst>
              <a:gd name="adj" fmla="val 20000"/>
            </a:avLst>
          </a:prstGeom>
          <a:solidFill>
            <a:srgbClr val="4CA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Box 8"/>
          <p:cNvSpPr/>
          <p:nvPr/>
        </p:nvSpPr>
        <p:spPr>
          <a:xfrm>
            <a:off x="4572000" y="4133160"/>
            <a:ext cx="3017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Try Assignmint.ai  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9"/>
          <p:cNvSpPr/>
          <p:nvPr/>
        </p:nvSpPr>
        <p:spPr>
          <a:xfrm>
            <a:off x="1828800" y="502920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5B0A8"/>
                </a:solidFill>
                <a:effectLst/>
                <a:uFillTx/>
                <a:latin typeface="DM Sans"/>
              </a:rPr>
              <a:t>Chrome Web Store   ·   assignmint.ai   ·   Built with IBM watsonx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